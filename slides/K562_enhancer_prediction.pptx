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2119"/>
  </p:normalViewPr>
  <p:slideViewPr>
    <p:cSldViewPr snapToGrid="0" snapToObjects="1">
      <p:cViewPr>
        <p:scale>
          <a:sx n="97" d="100"/>
          <a:sy n="97" d="100"/>
        </p:scale>
        <p:origin x="8" y="-7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8885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 presenting work on predicting K562 enhancer regions directly from DNA sequence. The central question I wanted to answer is whether the Puffin-D CNN architecture, originally designed for promoter biology, can also predict enhancers, and if so, whether its pretrained weights transfer or whether the architecture alone is enough. Over the next ten minutes I'll walk through the motivation, the model, the evaluation, and what we learned about what the model actually pays attention to in the DNA.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Predicting enhancers from DNA sequence is biologically valuable. Enhancers turn on genes, they're cell-type specific, and experimentally mapping them across all cell types is expensive. A sequence-based predictor could fill in these gaps and help us understand what features make a stretch of DNA function as an enhancer in one cell type but not another. I worked with K562, a leukemia cell line that ENCODE has profiled deeply, so reliable ground truth labels exist.</a:t>
            </a:r>
          </a:p>
          <a:p>
            <a:endParaRPr/>
          </a:p>
          <a:p>
            <a:r>
              <a:t>But there's a broader question I wanted to test. Deep learning models for regulatory genomics are usually trained for one specific task at a time. Puffin-D, the architecture I used here, was originally designed by the Zhou Lab for predicting transcription start sites and core promoter elements. Promoters and enhancers share underlying biology. Both involve transcription factors binding short DNA motifs in regional compositional context. But they differ meaningfully. Promoters sit at gene starts; enhancers can be hundreds of kilobases away. Promoters are mostly cell-type-independent; enhancers are highly cell-type-specific. So the question becomes: does the Puffin-D architecture capture something general about regulatory DNA, or is it specialized to promoter biology?</a:t>
            </a:r>
          </a:p>
          <a:p>
            <a:endParaRPr/>
          </a:p>
          <a:p>
            <a:r>
              <a:t>I tested this two ways. First, I trained the architecture from scratch with randomly initialized weights, on K562 enhancer labels. This isolates the question of whether the architecture itself is a good fit for enhancer prediction. If it learns well from scratch, the answer is yes. Second, I trained the same architecture starting from Puffin-D's pretrained weights, fine-tuned on K562 enhancer labels. This tests whether the specific learned weights from promoter training transfer to enhancer prediction. If pretrained outperforms from-scratch, the answer is yes, and we've shown that Puffin-D has learned representations that generalize across regulatory tasks.</a:t>
            </a:r>
          </a:p>
          <a:p>
            <a:endParaRPr/>
          </a:p>
          <a:p>
            <a:r>
              <a:t>Both experiments share identical training data, splits, batch size, learning rate, and loss function. The only difference between the two models is the initialization. This makes the comparison clean. Let me show you the setup and then the results.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labels come from intersecting two ENCODE resources. The cCRE annotations are from ENCODE SCREEN v3 and define roughly a million candidate regulatory regions across the genome, based on accessibility and histone marks. The K562 H3K27ac ChIP-seq, accession ENCFF066IUT, tells us which of those candidate elements are actually active in K562 specifically. H3K27ac is the standard histone mark for active enhancers and promoters, so it's what ENCODE itself uses to subcategorize regulatory elements. A base is labeled positive if it sits within a cCRE that overlaps a K562 H3K27ac peak. I built this intersection with bedtools and then projected it onto per-base label arrays for each chromosome.</a:t>
            </a:r>
          </a:p>
          <a:p>
            <a:endParaRPr/>
          </a:p>
          <a:p>
            <a:r>
              <a:t>The cCRE annotations distinguish two enhancer subcategories that matter for the analysis. pELS, proximal enhancer-like elements, sit within 2 kilobases of a transcription start site. dELS, distal elements, sit further away. This split matters because proximal elements share sequence properties with nearby promoters, so they're partially predictable from promoter-like features, while distal elements depend more on cell-type-specific transcription factor binding and are intrinsically harder.</a:t>
            </a:r>
          </a:p>
          <a:p>
            <a:endParaRPr/>
          </a:p>
          <a:p>
            <a:r>
              <a:t>The chromosome splits keep the test set strictly separated from training. Training uses chromosomes 1 through 7 and 11 through 20. Validation is chromosome 21. Chromosome 10 is the held-out test set. Splitting by whole chromosomes is important. If you split positions randomly within a chromosome, the model sees local homology and repeats during both training and test, which inflates the metrics. Whole-chromosome splits eliminate that leakage.</a:t>
            </a:r>
          </a:p>
          <a:p>
            <a:endParaRPr/>
          </a:p>
          <a:p>
            <a:r>
              <a:t>One number to keep in mind: only 1.3% of chr10 bases are enhancer-positive. That's the chance baseline for AUPRC, which means a useful model needs to land well above 0.013 to be meaningful.</a:t>
            </a:r>
          </a:p>
          <a:p>
            <a:endParaRPr/>
          </a:p>
          <a:p>
            <a:r>
              <a:t>Someone might ask why I used H3K27ac and not p300 or another mark. H3K27ac is the standard mark for active regulatory elements. The K562 data is abundant and clean, and it's what ENCODE itself uses to define the ELS subcategories.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Puffin-D was developed by the Zhou Lab here at UChicago. It's a CNN architecture originally designed to predict transcription start sites and core promoter elements, things like the TATA box, the Initiator sequence, and CpG island context. The architecture has two key properties that make it well-suited for regulatory sequence prediction. First, it uses dilated convolutions, which expand the receptive field of each layer without losing per-base resolution. This means a single per-base prediction can be informed by context tens of thousands of bases away, which matters because regulatory elements often depend on long-range sequence context. Second, the model is organized as a double U-Net: the input is downsampled through strided convolutions to a low-resolution bottleneck embedding, then upsampled back to per-base resolution through skip connections. Two U-Nets stacked allows the model to integrate local sequence detail with broader regional patterns.</a:t>
            </a:r>
          </a:p>
          <a:p>
            <a:endParaRPr/>
          </a:p>
          <a:p>
            <a:r>
              <a:t>The input format is a 100,000 base pair window of DNA, one-hot encoded as four channels for A, C, G, and T. Each base in the input gets its own prediction at the output.</a:t>
            </a:r>
          </a:p>
          <a:p>
            <a:endParaRPr/>
          </a:p>
          <a:p>
            <a:r>
              <a:t>Puffin-D was trained on a large mammalian genomic dataset that includes ENCODE CAGE-seq for transcription start sites, annotations for core promoter elements, and multi-species comparative genomics. The learned weights encode what short regulatory motifs look like, how they're positioned relative to functional sites, and what broader compositional patterns characterize active regulatory regions.</a:t>
            </a:r>
          </a:p>
          <a:p>
            <a:endParaRPr/>
          </a:p>
          <a:p>
            <a:r>
              <a:t>On the right side of the slide I've broken out the structural details into bullets so the architecture is concrete: a 100 kilobase one-hot DNA input, dilated convolutions throughout the network, the double U-Net layout with skip connections, and per-base outputs across the input window.</a:t>
            </a:r>
          </a:p>
          <a:p>
            <a:endParaRPr/>
          </a:p>
          <a:p>
            <a:r>
              <a:t>In the next slide I'll show how I adapted this architecture for the K562 enhancer task and what the training setup looked like.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Building on the last slide, here's how I adapted Puffin-D for K562 enhancer prediction. The only architectural change is the output head, while everything in the backbone is unchanged from the original Puffin-D.</a:t>
            </a:r>
          </a:p>
          <a:p>
            <a:endParaRPr/>
          </a:p>
          <a:p>
            <a:r>
              <a:t>Puffin-D's original output head predicted promoter-related quantities like TSS probability and core promoter element presence. I replaced it with a single sigmoid layer that outputs one probability per base, representing whether that base is part of a K562 enhancer. Everything else, including the backbone weights for the pretrained version, comes directly from Puffin-D.</a:t>
            </a:r>
          </a:p>
          <a:p>
            <a:endParaRPr/>
          </a:p>
          <a:p>
            <a:r>
              <a:t>Training used binary cross-entropy loss with pos_weight=25 to address class imbalance. The pos_weight value of 25 was calibrated to roughly match the 1:75 positive-to-negative ratio in the training windows. It partially upweights positives without overcorrecting.</a:t>
            </a:r>
          </a:p>
          <a:p>
            <a:endParaRPr/>
          </a:p>
          <a:p>
            <a:r>
              <a:t>The optimizer is AdamW with weight decay 1e-4 and a base learning rate of 5e-4. The learning rate was selected after short pilot runs. I tried 1e-3, which was unstable, and 1e-4, which was too slow, before settling on 5e-4 with plateau-based decay, which halves the LR when validation loss stops improving. Batch size is 4. Mixed precision in bf16. Each epoch processes 2,500 windows sampled from the training chromosomes.</a:t>
            </a:r>
          </a:p>
          <a:p>
            <a:endParaRPr/>
          </a:p>
          <a:p>
            <a:r>
              <a:t>The two models differ only in starting weights. From-scratch starts from random initialization and needs 35 epochs to converge, which took about three and a half hours on a single Blackwell GPU on the lab cluster. Pretrained converges in 7 epochs and takes about 45 minutes on the same hardware. So pretraining gives roughly a 5x reduction in wall-clock training time on top of the performance improvement.</a:t>
            </a:r>
          </a:p>
          <a:p>
            <a:endParaRPr/>
          </a:p>
          <a:p>
            <a:r>
              <a:t>Someone might ask whether I could push pretrained higher by training it longer. I let it run beyond convergence to confirm there was no further improvement. The gains plateau around epoch 7.</a:t>
            </a:r>
          </a:p>
          <a:p>
            <a:endParaRPr/>
          </a:p>
          <a:p>
            <a:r>
              <a:t>One thing worth keeping in mind for the next few slides. Two of the metrics I'll show, AUROC and AUPRC, answer different questions and behave very differently on imbalanced data. AUROC asks how often the model ranks a random positive base above a random negative base. With 1.3% positive rate, the random negative is almost always an easy one. Most non-enhancer bases are in gene deserts or repetitive regions that look nothing like enhancers, so AUROC can look high even when the model isn't precise. AUPRC is the harsher metric. It tracks how much precision you maintain as you try to recall more positives, and it directly penalizes false positives. So when you see AUROC 0.92 and AUPRC 0.27 on the same model, those aren't contradictory. They're answering different questions, and the AUPRC number is the more honest one for our problem.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Rather than reporting a single number, I evaluated the models across several complementary metrics. Each captures something different, and the picture across all of them is more convincing than any one alone.</a:t>
            </a:r>
          </a:p>
          <a:p>
            <a:endParaRPr/>
          </a:p>
          <a:p>
            <a:r>
              <a:t>AUROC is the standard metric. It ranks positives versus negatives across all thresholds. On imbalanced data like this, AUROC has a well-known weakness: it's easy to inflate by correctly handling the easy negatives. With 98.7% of bases being non-enhancer, a model can score a high AUROC just by getting the obvious negatives right. So I report AUROC but don't treat it as the primary metric.</a:t>
            </a:r>
          </a:p>
          <a:p>
            <a:endParaRPr/>
          </a:p>
          <a:p>
            <a:r>
              <a:t>AUPRC is the more honest metric here. It directly tracks the precision-recall tradeoff and is more sensitive to actual performance on the rare positive class. The chance baseline for AUPRC equals the positive rate, which on chr10 is 0.013. That's what random guessing at the right frequency would achieve. A useful model needs to land well above that.</a:t>
            </a:r>
          </a:p>
          <a:p>
            <a:endParaRPr/>
          </a:p>
          <a:p>
            <a:r>
              <a:t>The threshold sweep evaluates precision and recall at five operating points from 0.1 to 0.9. This confirms whether the comparison between the two models holds across the full operating range or whether it's specific to one threshold.</a:t>
            </a:r>
          </a:p>
          <a:p>
            <a:endParaRPr/>
          </a:p>
          <a:p>
            <a:r>
              <a:t>Stratified AUROC computes the metric separately for pELS and dELS positions. This tells us whether the model is exploiting easy proximal signal or actually learning enhancer biology. If pretraining only helped on pELS, we would worry it just imported promoter bias.</a:t>
            </a:r>
          </a:p>
          <a:p>
            <a:endParaRPr/>
          </a:p>
          <a:p>
            <a:r>
              <a:t>Peak-level recall zooms out from per-base to per-region. I threshold the per-base predictions at 0.5, merge contiguous positives into peaks, and check what fraction of real chr10 enhancers each peak set covers. Two matching rules: any-overlap, which is lenient, and reciprocal-50, which is strict. Reporting both confirms the result isn't an artifact of one matching definition.</a:t>
            </a:r>
          </a:p>
          <a:p>
            <a:endParaRPr/>
          </a:p>
          <a:p>
            <a:r>
              <a:t>Someone might ask why not just report F1. F1 picks one threshold and conflates precision and recall into a single number. AUPRC summarizes the full curve and is more informative for imbalanced problems.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place we see the effect of pretraining is in the training curves themselves. The left panel plots training loss, specifically binary cross-entropy, against epoch. Lower is better. The right panel plots validation AUROC against epoch, where higher is better.</a:t>
            </a:r>
          </a:p>
          <a:p>
            <a:endParaRPr/>
          </a:p>
          <a:p>
            <a:r>
              <a:t>The blue curve in both panels is the from-scratch model. It starts at high training loss around 0.55 and decreases gradually over 35 epochs, ending around 0.18. Its validation AUROC starts near 0.6 and works upward to roughly 0.85 to 0.93 by the end.</a:t>
            </a:r>
          </a:p>
          <a:p>
            <a:endParaRPr/>
          </a:p>
          <a:p>
            <a:r>
              <a:t>The orange curve is the pretrained model. Look at where its training loss starts on the left panel. It's already at about 0.15 at epoch zero, before any fine-tuning on enhancer data. That's because the Puffin-D backbone weights already understand DNA structure from the promoter pretraining. Pretrained then drops further and converges by epoch 7. On validation AUROC, pretrained reaches above 0.98 within 3 epochs and stays there. The annotation marks the pretrained best at epoch 3, which is the checkpoint I selected for the test set evaluation.</a:t>
            </a:r>
          </a:p>
          <a:p>
            <a:endParaRPr/>
          </a:p>
          <a:p>
            <a:r>
              <a:t>A note on the validation curve for from-scratch: it looks noisy because the validation set has only 50 windows. Small validation sets produce bouncy metrics. This is why I rely on the chr10 test set, which is much larger, for the actual model comparison. The validation curves were used for early stopping and learning rate decay, not for the final comparison.</a:t>
            </a:r>
          </a:p>
          <a:p>
            <a:endParaRPr/>
          </a:p>
          <a:p>
            <a:r>
              <a:t>The 5x reduction in epochs translates to roughly a 5x reduction in wall-clock training time. The pretrained features are useful from epoch zero. They are not learned during fine-tuning. This is the first piece of evidence that the transferred weights carry information that genuinely bootstraps enhancer learning.</a:t>
            </a:r>
          </a:p>
          <a:p>
            <a:endParaRPr/>
          </a:p>
          <a:p>
            <a:r>
              <a:t>Someone might ask whether I tried other pretrained models. Puffin-D was chosen specifically because it is CNN-based, takes 100 kilobase input like ours, and was trained on a related task. Other available genomic models would require different input formatting.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held-out chromosome 10 evaluation. The model never saw chr10 during training or validation.</a:t>
            </a:r>
          </a:p>
          <a:p>
            <a:endParaRPr/>
          </a:p>
          <a:p>
            <a:r>
              <a:t>Per-base AUROC: pretrained reaches 0.923, from-scratch 0.879. Both are well above the 0.5 chance baseline. Per-base AUPRC: pretrained 0.269, from-scratch 0.168. The chance baseline for AUPRC equals the positive rate, which is 0.013 on chr10. So pretrained is 21 times above chance, from-scratch is 13 times. That sounds impressive when stated as a multiplier, but the absolute AUPRC of 0.269 is worth pausing on.</a:t>
            </a:r>
          </a:p>
          <a:p>
            <a:endParaRPr/>
          </a:p>
          <a:p>
            <a:r>
              <a:t>To put 0.269 in context: at threshold 0.5, the pretrained model's precision is 0.184. That means when the model says a base is an enhancer, it's right about 18% of the time, and wrong about 82% of the time. The recall at the same threshold is 0.558, so the model catches a little over half of real enhancer bases. So the model has real signal, it's much better than chance, but it's not a useful predictor in practice. If you wanted to use this model to find novel K562 enhancers experimentally, you'd be following roughly five false leads for every real one, which isn't workable.</a:t>
            </a:r>
          </a:p>
          <a:p>
            <a:endParaRPr/>
          </a:p>
          <a:p>
            <a:r>
              <a:t>I want to be clear about this because AUROC alone might mislead the reader. AUROC of 0.92 sounds great, but it's relatively easy to achieve on an imbalanced problem like this. Sorting most negatives below most positives doesn't require much resolution at the top of the ranking. AUPRC is the more honest metric for what we care about, which is whether the model can actually find enhancers. AUPRC of 0.27 on this data tells us the model has clear signal but is well below the level where individual predictions could be trusted.</a:t>
            </a:r>
          </a:p>
          <a:p>
            <a:endParaRPr/>
          </a:p>
          <a:p>
            <a:r>
              <a:t>What we can defend from this slide: pretrained substantially improves AUPRC over from-scratch on the same architecture and data. About a 60% relative improvement. What we cannot defend: that either model is a practically useful enhancer predictor.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wanted to check whether the improvement from pretraining is genuine or whether it depends on cherry-picking one evaluation choice. Two checks.</a:t>
            </a:r>
          </a:p>
          <a:p>
            <a:endParaRPr/>
          </a:p>
          <a:p>
            <a:r>
              <a:t>On the left, the stratified AUROC figure. The y-axis is AUROC, where higher is better. The x-axis has two categories: pELS for proximal enhancers within 2 kilobases of a TSS, and dELS for distal enhancers further away. The numbers above each bar are the AUROC values. From-scratch reaches 0.841 on pELS and 0.773 on dELS. Pretrained reaches 0.902 on pELS and 0.854 on dELS.</a:t>
            </a:r>
          </a:p>
          <a:p>
            <a:endParaRPr/>
          </a:p>
          <a:p>
            <a:r>
              <a:t>Both models do better on pELS than on dELS. That's expected because proximal enhancers share sequence signal with the adjacent promoters they sit near, so they're partially predictable from promoter-like features. Distal enhancers depend more on cell-type-specific transcription factor binding patterns and are intrinsically harder.</a:t>
            </a:r>
          </a:p>
          <a:p>
            <a:endParaRPr/>
          </a:p>
          <a:p>
            <a:r>
              <a:t>The interesting finding is the gap. The improvement on pELS is +0.061. The improvement on dELS is +0.081. Pretraining helps more on the harder distal category. If pretraining had only helped on pELS, the natural concern would be that it just imported promoter knowledge that doesn't generalize. The fact that it helps more on dELS says the transferred features are useful beyond promoter-adjacent regions.</a:t>
            </a:r>
          </a:p>
          <a:p>
            <a:endParaRPr/>
          </a:p>
          <a:p>
            <a:r>
              <a:t>On the right, the threshold sweep. The x-axis is decision threshold, sweeping from 0.1 to 0.9. The left subplot y-axis is precision, the right subplot y-axis is recall. Each line is one model. As the threshold rises, the model becomes more selective: precision goes up, recall goes down. Standard tradeoff.</a:t>
            </a:r>
          </a:p>
          <a:p>
            <a:endParaRPr/>
          </a:p>
          <a:p>
            <a:r>
              <a:t>Pretrained leads on precision at every threshold below 0.9. At threshold 0.9, from-scratch has slightly higher precision around 0.41 versus pretrained's 0.30, but its recall at that threshold is only 9% versus pretrained's 36%. So pretrained still dominates the useful operating range. On the recall side, pretrained leads at thresholds 0.3 and above. At threshold 0.1, from-scratch flags more bases overall and gets slightly higher recall, but at a precision cost.</a:t>
            </a:r>
          </a:p>
          <a:p>
            <a:endParaRPr/>
          </a:p>
          <a:p>
            <a:r>
              <a:t>Combined message: the improvement isn't an artifact of one evaluation choice. It holds whether you split by enhancer subtype or sweep across thresholds.</a:t>
            </a:r>
          </a:p>
          <a:p>
            <a:endParaRPr/>
          </a:p>
          <a:p>
            <a:r>
              <a:t>Someone might ask what operating point to use in practice. Threshold 0.5 is the sigmoid default. Higher thresholds suit candidate-validation use cases, lower thresholds suit broad screening.</a:t>
            </a:r>
          </a:p>
          <a:p>
            <a:endParaRPr/>
          </a:p>
          <a:p>
            <a:r>
              <a:t>One thing to flag here: the stratified AUROC numbers also benefit from the same caveat as the overall AUROC. AUROC 0.85 on dELS sounds strong, but it's a ranking metric on a highly imbalanced subtype. The PR-curve characterization on this slide doesn't include separate stratified AUPRC, but if it did, the dELS AUPRC would be substantially lower in absolute terms than the AUROC suggests. The takeaway is the comparison between the two models, not the absolute performance on either subtype.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Strong test metrics raise the next question. What is the model actually paying attention to in the DNA? Did it learn known K562 transcription factor binding motifs, or is it relying on something else?</a:t>
            </a:r>
          </a:p>
          <a:p>
            <a:endParaRPr/>
          </a:p>
          <a:p>
            <a:r>
              <a:t>To answer that, I ran in silico mutagenesis on the top 1,000 highest-confidence chr10 predictions. For each one, I mutated every base in a 51 base-pair window around the prediction and recorded how much the prediction changed. Bases that drop the prediction when mutated are the bases the model relies on. This gives a saliency profile per position.</a:t>
            </a:r>
          </a:p>
          <a:p>
            <a:endParaRPr/>
          </a:p>
          <a:p>
            <a:r>
              <a:t>I then clustered the 1,000 profiles into 10 groups based on shape similarity. For each cluster, I built a position weight matrix from the underlying DNA sequences and compared it against JASPAR's database of known TF binding motifs using IC-weighted Pearson correlation across offset alignments.</a:t>
            </a:r>
          </a:p>
          <a:p>
            <a:endParaRPr/>
          </a:p>
          <a:p>
            <a:r>
              <a:t>Four clusters had meaningful matches to known K562 transcription factors. Cluster 0 with 130 members matched GATA1 at score 0.738. Cluster 1 with 40 members matched Sp1 at 0.562. Cluster 2 with 739 members matched Sp1 at 0.570. Cluster 4 with 79 members matched MYB at 0.666. At first glance this looks like a strong result. GATA1 is the master regulator of erythroid biology and a defining K562 TF. MYB is canonical in leukemia.</a:t>
            </a:r>
          </a:p>
          <a:p>
            <a:endParaRPr/>
          </a:p>
          <a:p>
            <a:r>
              <a:t>But the cluster PWMs themselves tell a different story. Look at the figure. The left column shows the cluster PWMs, with the y-axis zoomed to 0 to 0.3 bits. The right column shows the matching JASPAR motifs at their natural 0 to 2 bits scale. The dashed line in the cluster panels marks 1.0 bits, which is roughly where a typical TF motif position sits. The visual scale difference is the entire point. JASPAR motifs reach 1.5 to 2 bits at their peaks. The cluster PWMs cap out around 0.2 to 0.3 bits, an order of magnitude weaker.</a:t>
            </a:r>
          </a:p>
          <a:p>
            <a:endParaRPr/>
          </a:p>
          <a:p>
            <a:r>
              <a:t>The letter content also fails the eye test. The GATA1 cluster shows G and C enrichment, not the A and T pattern GATA1 binding requires. The MYB cluster is similar. The Sp1 matches are the most defensible since Sp1 binds GC-rich boxes and the model's preferences are GC-flavored, but even there the signal is much weaker than real Sp1 binding sites.</a:t>
            </a:r>
          </a:p>
          <a:p>
            <a:endParaRPr/>
          </a:p>
          <a:p>
            <a:r>
              <a:t>The conclusion is that the model uses regional GC-rich composition consistent with CpG-island context, not specific TF binding motifs. This lines up with the stratified result: compositional features are strongest near promoters, which is where the model does best.</a:t>
            </a:r>
          </a:p>
          <a:p>
            <a:endParaRPr/>
          </a:p>
          <a:p>
            <a:r>
              <a:t>Someone might ask whether I did anything beyond JASPAR matching. Yes, a peak-saliency realignment test that's in the report. When I realigned each cluster member to its peak-attention position, match scores collapsed rather than sharpened. If a real motif had been present, alignment would have sharpened the signal. The collapse confirms the matches were compositional.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To wrap up, I want to be careful about what this experiment shows and what it doesn't.</a:t>
            </a:r>
          </a:p>
          <a:p>
            <a:endParaRPr dirty="0"/>
          </a:p>
          <a:p>
            <a:r>
              <a:rPr dirty="0"/>
              <a:t>What it shows: when you take the Puffin-D architecture and train it on K562 enhancer labels, pretraining from Puffin-D's promoter-task weights leads to a model that consistently outperforms training from random initialization on the same data. AUPRC goes from 0.168 to 0.269, a roughly 60 percent relative improvement. AUROC improves from 0.879 to 0.923. The improvement holds across decision thresholds, across both enhancer subtypes, and under both lenient and strict peak-matching rules. So the pretrained-vs-from-scratch comparison is internally consistent.</a:t>
            </a:r>
          </a:p>
          <a:p>
            <a:endParaRPr dirty="0"/>
          </a:p>
          <a:p>
            <a:r>
              <a:rPr dirty="0"/>
              <a:t>What it doesn't show is whether the model is actually useful. The AUPRC of 0.269 sounds impressive when described as 21 times above chance, but the absolute number is what matters for whether anyone could use this. At threshold 0.5, the model's precision is 18 percent, meaning four out of five positive predictions are wrong. This is far below what a researcher would need to use the model for discovery applications, like flagging candidate enhancers for experimental validation.</a:t>
            </a:r>
          </a:p>
          <a:p>
            <a:endParaRPr dirty="0"/>
          </a:p>
          <a:p>
            <a:r>
              <a:rPr dirty="0"/>
              <a:t>There are other things this experiment can't conclude. I didn't compare against simpler baselines like logistic regression on sequence composition, or smaller CNNs. So I can't claim Puffin-D is the right architecture for this task, only that this particular Puffin-D setup beats random initialization. I also only ran one training run per condition. Deep learning results can vary substantially across random seeds, so without multiple seeds I can't put error bars on the comparison. The improvement might be 60 percent, but it could be 40 or 80 across different seeds. We just don't know. And the slightly bigger gain on </a:t>
            </a:r>
            <a:r>
              <a:rPr dirty="0" err="1"/>
              <a:t>dELS</a:t>
            </a:r>
            <a:r>
              <a:rPr dirty="0"/>
              <a:t> than </a:t>
            </a:r>
            <a:r>
              <a:rPr dirty="0" err="1"/>
              <a:t>pELS</a:t>
            </a:r>
            <a:r>
              <a:rPr dirty="0"/>
              <a:t>, which I framed earlier as suggestive of real biological transfer, could equally be a general property of pretrained models, which tend to help more on harder tasks regardless of biology.</a:t>
            </a:r>
          </a:p>
          <a:p>
            <a:endParaRPr dirty="0"/>
          </a:p>
          <a:p>
            <a:r>
              <a:rPr dirty="0"/>
              <a:t>The more interesting scientific finding from this work is probably the interpretation analysis. Both models, even though they perform differently in absolute terms, learn the same kind of representations: compositional features like GC content and CpG context, rather than specific TF binding motifs. We confirmed this with in silico mutagenesis and a peak-realignment test that I described in the previous slide. This tells us something about what Puffin-D-style CNNs capture. They're good at recognizing where regulatory regions are, but not at identifying which specific transcription factors are binding there. This is a useful methodological observation about the class of architecture, regardless of whether the specific predictor is useful.</a:t>
            </a:r>
          </a:p>
          <a:p>
            <a:endParaRPr dirty="0"/>
          </a:p>
          <a:p>
            <a:r>
              <a:rPr dirty="0"/>
              <a:t>For limitations and future directions: more training seeds, baseline architecture comparisons, a larger validation set, wider ISM windows, and motif-aware training objectives are all worth pursuing.</a:t>
            </a:r>
          </a:p>
          <a:p>
            <a:endParaRPr dirty="0"/>
          </a:p>
          <a:p>
            <a:r>
              <a:rPr dirty="0"/>
              <a:t>The code and all results are at the GitHub link shown. Thanks for listening, I'm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hahu1013/enhancer_prediction_k562"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920240"/>
            <a:ext cx="10360152" cy="2719078"/>
          </a:xfrm>
          <a:prstGeom prst="rect">
            <a:avLst/>
          </a:prstGeom>
          <a:noFill/>
        </p:spPr>
        <p:txBody>
          <a:bodyPr wrap="square">
            <a:spAutoFit/>
          </a:bodyPr>
          <a:lstStyle/>
          <a:p>
            <a:pPr algn="ctr">
              <a:lnSpc>
                <a:spcPct val="120000"/>
              </a:lnSpc>
              <a:spcBef>
                <a:spcPts val="0"/>
              </a:spcBef>
              <a:spcAft>
                <a:spcPts val="0"/>
              </a:spcAft>
              <a:defRPr sz="4400" b="1" i="0">
                <a:latin typeface="Calibri"/>
              </a:defRPr>
            </a:pPr>
            <a:r>
              <a:rPr dirty="0"/>
              <a:t>K562 Enhancer Prediction from DNA Sequence</a:t>
            </a:r>
          </a:p>
          <a:p>
            <a:pPr algn="ctr">
              <a:lnSpc>
                <a:spcPct val="120000"/>
              </a:lnSpc>
              <a:spcBef>
                <a:spcPts val="1400"/>
              </a:spcBef>
              <a:spcAft>
                <a:spcPts val="0"/>
              </a:spcAft>
              <a:defRPr sz="1800" b="0" i="0">
                <a:latin typeface="Calibri"/>
              </a:defRPr>
            </a:pPr>
            <a:r>
              <a:rPr dirty="0"/>
              <a:t>Deep Learning in Genomics — Spring 2026</a:t>
            </a:r>
          </a:p>
          <a:p>
            <a:pPr algn="ctr">
              <a:lnSpc>
                <a:spcPct val="120000"/>
              </a:lnSpc>
              <a:spcBef>
                <a:spcPts val="1400"/>
              </a:spcBef>
              <a:spcAft>
                <a:spcPts val="0"/>
              </a:spcAft>
              <a:defRPr sz="1800" b="0" i="0">
                <a:latin typeface="Calibri"/>
              </a:defRPr>
            </a:pPr>
            <a:r>
              <a:rPr dirty="0"/>
              <a:t>May 19,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11274552" cy="777240"/>
          </a:xfrm>
          <a:prstGeom prst="rect">
            <a:avLst/>
          </a:prstGeom>
          <a:noFill/>
        </p:spPr>
        <p:txBody>
          <a:bodyPr wrap="none" lIns="0" tIns="0" rIns="0" bIns="0">
            <a:spAutoFit/>
          </a:bodyPr>
          <a:lstStyle/>
          <a:p>
            <a:pPr>
              <a:lnSpc>
                <a:spcPct val="110000"/>
              </a:lnSpc>
              <a:spcBef>
                <a:spcPts val="0"/>
              </a:spcBef>
              <a:spcAft>
                <a:spcPts val="0"/>
              </a:spcAft>
              <a:defRPr sz="4000" b="1" i="0">
                <a:latin typeface="Calibri"/>
              </a:defRPr>
            </a:pPr>
            <a:r>
              <a:t>Motivation &amp; Question</a:t>
            </a:r>
          </a:p>
        </p:txBody>
      </p:sp>
      <p:sp>
        <p:nvSpPr>
          <p:cNvPr id="3" name="TextBox 2"/>
          <p:cNvSpPr txBox="1"/>
          <p:nvPr/>
        </p:nvSpPr>
        <p:spPr>
          <a:xfrm>
            <a:off x="457200" y="1051560"/>
            <a:ext cx="11247120" cy="411480"/>
          </a:xfrm>
          <a:prstGeom prst="rect">
            <a:avLst/>
          </a:prstGeom>
          <a:noFill/>
        </p:spPr>
        <p:txBody>
          <a:bodyPr wrap="square">
            <a:spAutoFit/>
          </a:bodyPr>
          <a:lstStyle/>
          <a:p>
            <a:pPr>
              <a:lnSpc>
                <a:spcPct val="110000"/>
              </a:lnSpc>
              <a:spcBef>
                <a:spcPts val="0"/>
              </a:spcBef>
              <a:spcAft>
                <a:spcPts val="0"/>
              </a:spcAft>
              <a:defRPr sz="2200" b="1" i="0">
                <a:latin typeface="Calibri"/>
              </a:defRPr>
            </a:pPr>
            <a:r>
              <a:t>Why this matters</a:t>
            </a:r>
          </a:p>
        </p:txBody>
      </p:sp>
      <p:sp>
        <p:nvSpPr>
          <p:cNvPr id="4" name="TextBox 3"/>
          <p:cNvSpPr txBox="1"/>
          <p:nvPr/>
        </p:nvSpPr>
        <p:spPr>
          <a:xfrm>
            <a:off x="457200" y="1463040"/>
            <a:ext cx="11247120" cy="1463040"/>
          </a:xfrm>
          <a:prstGeom prst="rect">
            <a:avLst/>
          </a:prstGeom>
          <a:noFill/>
        </p:spPr>
        <p:txBody>
          <a:bodyPr wrap="square">
            <a:spAutoFit/>
          </a:bodyPr>
          <a:lstStyle/>
          <a:p>
            <a:pPr>
              <a:lnSpc>
                <a:spcPct val="120000"/>
              </a:lnSpc>
              <a:spcBef>
                <a:spcPts val="0"/>
              </a:spcBef>
              <a:spcAft>
                <a:spcPts val="0"/>
              </a:spcAft>
              <a:defRPr sz="1800" b="0" i="0">
                <a:latin typeface="Calibri"/>
              </a:defRPr>
            </a:pPr>
            <a:r>
              <a:t>•   Enhancers are DNA regions that activate nearby genes</a:t>
            </a:r>
          </a:p>
          <a:p>
            <a:pPr>
              <a:lnSpc>
                <a:spcPct val="120000"/>
              </a:lnSpc>
              <a:spcBef>
                <a:spcPts val="400"/>
              </a:spcBef>
              <a:spcAft>
                <a:spcPts val="0"/>
              </a:spcAft>
              <a:defRPr sz="1800" b="0" i="0">
                <a:latin typeface="Calibri"/>
              </a:defRPr>
            </a:pPr>
            <a:r>
              <a:t>•   They are cell-type specific and expensive to map experimentally</a:t>
            </a:r>
          </a:p>
          <a:p>
            <a:pPr>
              <a:lnSpc>
                <a:spcPct val="120000"/>
              </a:lnSpc>
              <a:spcBef>
                <a:spcPts val="400"/>
              </a:spcBef>
              <a:spcAft>
                <a:spcPts val="0"/>
              </a:spcAft>
              <a:defRPr sz="1800" b="0" i="0">
                <a:latin typeface="Calibri"/>
              </a:defRPr>
            </a:pPr>
            <a:r>
              <a:t>•   A model that predicts them from sequence helps fill experimental gaps</a:t>
            </a:r>
          </a:p>
          <a:p>
            <a:pPr>
              <a:lnSpc>
                <a:spcPct val="120000"/>
              </a:lnSpc>
              <a:spcBef>
                <a:spcPts val="400"/>
              </a:spcBef>
              <a:spcAft>
                <a:spcPts val="0"/>
              </a:spcAft>
              <a:defRPr sz="1800" b="0" i="0">
                <a:latin typeface="Calibri"/>
              </a:defRPr>
            </a:pPr>
            <a:r>
              <a:t>•   K562 is a leukemia cell line with abundant ENCODE ground truth</a:t>
            </a:r>
          </a:p>
        </p:txBody>
      </p:sp>
      <p:sp>
        <p:nvSpPr>
          <p:cNvPr id="5" name="TextBox 4"/>
          <p:cNvSpPr txBox="1"/>
          <p:nvPr/>
        </p:nvSpPr>
        <p:spPr>
          <a:xfrm>
            <a:off x="457200" y="3017520"/>
            <a:ext cx="11247120" cy="411480"/>
          </a:xfrm>
          <a:prstGeom prst="rect">
            <a:avLst/>
          </a:prstGeom>
          <a:noFill/>
        </p:spPr>
        <p:txBody>
          <a:bodyPr wrap="square">
            <a:spAutoFit/>
          </a:bodyPr>
          <a:lstStyle/>
          <a:p>
            <a:pPr>
              <a:lnSpc>
                <a:spcPct val="110000"/>
              </a:lnSpc>
              <a:spcBef>
                <a:spcPts val="0"/>
              </a:spcBef>
              <a:spcAft>
                <a:spcPts val="0"/>
              </a:spcAft>
              <a:defRPr sz="2200" b="1" i="0">
                <a:latin typeface="Calibri"/>
              </a:defRPr>
            </a:pPr>
            <a:r>
              <a:t>The question</a:t>
            </a:r>
          </a:p>
        </p:txBody>
      </p:sp>
      <p:sp>
        <p:nvSpPr>
          <p:cNvPr id="6" name="TextBox 5"/>
          <p:cNvSpPr txBox="1"/>
          <p:nvPr/>
        </p:nvSpPr>
        <p:spPr>
          <a:xfrm>
            <a:off x="457200" y="3429000"/>
            <a:ext cx="11247120" cy="1463040"/>
          </a:xfrm>
          <a:prstGeom prst="rect">
            <a:avLst/>
          </a:prstGeom>
          <a:noFill/>
        </p:spPr>
        <p:txBody>
          <a:bodyPr wrap="square">
            <a:spAutoFit/>
          </a:bodyPr>
          <a:lstStyle/>
          <a:p>
            <a:pPr>
              <a:lnSpc>
                <a:spcPct val="120000"/>
              </a:lnSpc>
              <a:spcBef>
                <a:spcPts val="0"/>
              </a:spcBef>
              <a:spcAft>
                <a:spcPts val="0"/>
              </a:spcAft>
              <a:defRPr sz="1800" b="0" i="0">
                <a:latin typeface="Calibri"/>
              </a:defRPr>
            </a:pPr>
            <a:r>
              <a:t>•   Puffin-D is a CNN originally built for promoter biology</a:t>
            </a:r>
          </a:p>
          <a:p>
            <a:pPr>
              <a:lnSpc>
                <a:spcPct val="120000"/>
              </a:lnSpc>
              <a:spcBef>
                <a:spcPts val="400"/>
              </a:spcBef>
              <a:spcAft>
                <a:spcPts val="0"/>
              </a:spcAft>
              <a:defRPr sz="1800" b="0" i="0">
                <a:latin typeface="Calibri"/>
              </a:defRPr>
            </a:pPr>
            <a:r>
              <a:t>•   Can the same architecture predict a related but distinct task: enhancers?</a:t>
            </a:r>
          </a:p>
          <a:p>
            <a:pPr>
              <a:lnSpc>
                <a:spcPct val="120000"/>
              </a:lnSpc>
              <a:spcBef>
                <a:spcPts val="400"/>
              </a:spcBef>
              <a:spcAft>
                <a:spcPts val="0"/>
              </a:spcAft>
              <a:defRPr sz="1800" b="0" i="0">
                <a:latin typeface="Calibri"/>
              </a:defRPr>
            </a:pPr>
            <a:r>
              <a:t>•   This tests whether Puffin-D learned promoter-specific rules or general regulatory sequence representations</a:t>
            </a:r>
          </a:p>
        </p:txBody>
      </p:sp>
      <p:sp>
        <p:nvSpPr>
          <p:cNvPr id="7" name="TextBox 6"/>
          <p:cNvSpPr txBox="1"/>
          <p:nvPr/>
        </p:nvSpPr>
        <p:spPr>
          <a:xfrm>
            <a:off x="457200" y="4775630"/>
            <a:ext cx="11247120" cy="446148"/>
          </a:xfrm>
          <a:prstGeom prst="rect">
            <a:avLst/>
          </a:prstGeom>
          <a:noFill/>
        </p:spPr>
        <p:txBody>
          <a:bodyPr wrap="square">
            <a:spAutoFit/>
          </a:bodyPr>
          <a:lstStyle/>
          <a:p>
            <a:pPr>
              <a:lnSpc>
                <a:spcPct val="110000"/>
              </a:lnSpc>
              <a:spcBef>
                <a:spcPts val="0"/>
              </a:spcBef>
              <a:spcAft>
                <a:spcPts val="0"/>
              </a:spcAft>
              <a:defRPr sz="2200" b="1" i="0">
                <a:latin typeface="Calibri"/>
              </a:defRPr>
            </a:pPr>
            <a:r>
              <a:rPr dirty="0"/>
              <a:t>How </a:t>
            </a:r>
            <a:r>
              <a:rPr lang="en-US" dirty="0"/>
              <a:t>I</a:t>
            </a:r>
            <a:r>
              <a:rPr dirty="0"/>
              <a:t> test it</a:t>
            </a:r>
          </a:p>
        </p:txBody>
      </p:sp>
      <p:sp>
        <p:nvSpPr>
          <p:cNvPr id="8" name="TextBox 7"/>
          <p:cNvSpPr txBox="1"/>
          <p:nvPr/>
        </p:nvSpPr>
        <p:spPr>
          <a:xfrm>
            <a:off x="457200" y="5221778"/>
            <a:ext cx="11247120" cy="1463040"/>
          </a:xfrm>
          <a:prstGeom prst="rect">
            <a:avLst/>
          </a:prstGeom>
          <a:noFill/>
        </p:spPr>
        <p:txBody>
          <a:bodyPr wrap="square">
            <a:spAutoFit/>
          </a:bodyPr>
          <a:lstStyle/>
          <a:p>
            <a:pPr>
              <a:lnSpc>
                <a:spcPct val="120000"/>
              </a:lnSpc>
              <a:spcBef>
                <a:spcPts val="0"/>
              </a:spcBef>
              <a:spcAft>
                <a:spcPts val="0"/>
              </a:spcAft>
              <a:defRPr sz="1800" b="0" i="0">
                <a:latin typeface="Calibri"/>
              </a:defRPr>
            </a:pPr>
            <a:r>
              <a:rPr dirty="0"/>
              <a:t>•   Train two versions of Puffin-D on identical data and hyperparameters</a:t>
            </a:r>
          </a:p>
          <a:p>
            <a:pPr>
              <a:lnSpc>
                <a:spcPct val="120000"/>
              </a:lnSpc>
              <a:spcBef>
                <a:spcPts val="400"/>
              </a:spcBef>
              <a:spcAft>
                <a:spcPts val="0"/>
              </a:spcAft>
              <a:defRPr sz="1800" b="0" i="0">
                <a:latin typeface="Calibri"/>
              </a:defRPr>
            </a:pPr>
            <a:r>
              <a:rPr dirty="0"/>
              <a:t>•   From-scratch (random weights) tests the architecture's general capability</a:t>
            </a:r>
          </a:p>
          <a:p>
            <a:pPr>
              <a:lnSpc>
                <a:spcPct val="120000"/>
              </a:lnSpc>
              <a:spcBef>
                <a:spcPts val="400"/>
              </a:spcBef>
              <a:spcAft>
                <a:spcPts val="0"/>
              </a:spcAft>
              <a:defRPr sz="1800" b="0" i="0">
                <a:latin typeface="Calibri"/>
              </a:defRPr>
            </a:pPr>
            <a:r>
              <a:rPr dirty="0"/>
              <a:t>•   Pretrained (Puffin-D weights) tests whether learned weights transfer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11274552" cy="777240"/>
          </a:xfrm>
          <a:prstGeom prst="rect">
            <a:avLst/>
          </a:prstGeom>
          <a:noFill/>
        </p:spPr>
        <p:txBody>
          <a:bodyPr wrap="none" lIns="0" tIns="0" rIns="0" bIns="0">
            <a:spAutoFit/>
          </a:bodyPr>
          <a:lstStyle/>
          <a:p>
            <a:pPr>
              <a:lnSpc>
                <a:spcPct val="110000"/>
              </a:lnSpc>
              <a:spcBef>
                <a:spcPts val="0"/>
              </a:spcBef>
              <a:spcAft>
                <a:spcPts val="0"/>
              </a:spcAft>
              <a:defRPr sz="4000" b="1" i="0">
                <a:latin typeface="Calibri"/>
              </a:defRPr>
            </a:pPr>
            <a:r>
              <a:t>Data: labels, splits, and class imbalance</a:t>
            </a:r>
          </a:p>
        </p:txBody>
      </p:sp>
      <p:sp>
        <p:nvSpPr>
          <p:cNvPr id="3" name="TextBox 2"/>
          <p:cNvSpPr txBox="1"/>
          <p:nvPr/>
        </p:nvSpPr>
        <p:spPr>
          <a:xfrm>
            <a:off x="548640" y="1188720"/>
            <a:ext cx="9692640" cy="5120640"/>
          </a:xfrm>
          <a:prstGeom prst="rect">
            <a:avLst/>
          </a:prstGeom>
          <a:noFill/>
        </p:spPr>
        <p:txBody>
          <a:bodyPr wrap="square">
            <a:spAutoFit/>
          </a:bodyPr>
          <a:lstStyle/>
          <a:p>
            <a:pPr>
              <a:lnSpc>
                <a:spcPct val="125000"/>
              </a:lnSpc>
              <a:spcBef>
                <a:spcPts val="0"/>
              </a:spcBef>
              <a:spcAft>
                <a:spcPts val="0"/>
              </a:spcAft>
              <a:defRPr sz="1900" b="0" i="0">
                <a:latin typeface="Calibri"/>
              </a:defRPr>
            </a:pPr>
            <a:r>
              <a:t>•   Genome reference: hg38 (one-hot encoded from packbits format)</a:t>
            </a:r>
          </a:p>
          <a:p>
            <a:pPr>
              <a:lnSpc>
                <a:spcPct val="125000"/>
              </a:lnSpc>
              <a:spcBef>
                <a:spcPts val="400"/>
              </a:spcBef>
              <a:spcAft>
                <a:spcPts val="0"/>
              </a:spcAft>
              <a:defRPr sz="1900" b="0" i="0">
                <a:latin typeface="Calibri"/>
              </a:defRPr>
            </a:pPr>
            <a:r>
              <a:t>•   Enhancer labels: ENCODE SCREEN v3 cCRE annotations (GRCh38-cCREs.bed) intersected with K562 H3K27ac ChIP-seq peaks (ENCFF066IUT)</a:t>
            </a:r>
          </a:p>
          <a:p>
            <a:pPr>
              <a:lnSpc>
                <a:spcPct val="125000"/>
              </a:lnSpc>
              <a:spcBef>
                <a:spcPts val="400"/>
              </a:spcBef>
              <a:spcAft>
                <a:spcPts val="0"/>
              </a:spcAft>
              <a:defRPr sz="1900" b="0" i="0">
                <a:latin typeface="Calibri"/>
              </a:defRPr>
            </a:pPr>
            <a:r>
              <a:t>•   Enhancer subtypes: pELS (proximal, within 2 kb of TSS) and dELS (distal)</a:t>
            </a:r>
          </a:p>
          <a:p>
            <a:pPr>
              <a:lnSpc>
                <a:spcPct val="125000"/>
              </a:lnSpc>
              <a:spcBef>
                <a:spcPts val="400"/>
              </a:spcBef>
              <a:spcAft>
                <a:spcPts val="0"/>
              </a:spcAft>
              <a:defRPr sz="1900" b="0" i="0">
                <a:latin typeface="Calibri"/>
              </a:defRPr>
            </a:pPr>
            <a:r>
              <a:t>•   Input: 100,000 bp DNA window. Output: per-base enhancer probability</a:t>
            </a:r>
          </a:p>
          <a:p>
            <a:pPr>
              <a:lnSpc>
                <a:spcPct val="125000"/>
              </a:lnSpc>
              <a:spcBef>
                <a:spcPts val="400"/>
              </a:spcBef>
              <a:spcAft>
                <a:spcPts val="0"/>
              </a:spcAft>
              <a:defRPr sz="1900" b="0" i="0">
                <a:latin typeface="Calibri"/>
              </a:defRPr>
            </a:pPr>
            <a:r>
              <a:t>•   Chromosome splits: chr1–7 + chr11–20 for training, chr21 for validation, chr10 held out for test</a:t>
            </a:r>
          </a:p>
          <a:p>
            <a:pPr>
              <a:lnSpc>
                <a:spcPct val="125000"/>
              </a:lnSpc>
              <a:spcBef>
                <a:spcPts val="400"/>
              </a:spcBef>
              <a:spcAft>
                <a:spcPts val="0"/>
              </a:spcAft>
              <a:defRPr sz="1900" b="0" i="0">
                <a:latin typeface="Calibri"/>
              </a:defRPr>
            </a:pPr>
            <a:r>
              <a:t>•   Whole-chromosome splits prevent local DNA homology from leaking between train and test</a:t>
            </a:r>
          </a:p>
          <a:p>
            <a:pPr>
              <a:lnSpc>
                <a:spcPct val="125000"/>
              </a:lnSpc>
              <a:spcBef>
                <a:spcPts val="400"/>
              </a:spcBef>
              <a:spcAft>
                <a:spcPts val="0"/>
              </a:spcAft>
              <a:defRPr sz="1900" b="0" i="0">
                <a:latin typeface="Calibri"/>
              </a:defRPr>
            </a:pPr>
            <a:r>
              <a:t>•   Positive rate on chr10: 1.30%. AUPRC chance baseline = 0.013</a:t>
            </a:r>
          </a:p>
        </p:txBody>
      </p:sp>
      <p:pic>
        <p:nvPicPr>
          <p:cNvPr id="4" name="Picture 3" descr="ENCODE_color_white-01.png"/>
          <p:cNvPicPr>
            <a:picLocks noChangeAspect="1"/>
          </p:cNvPicPr>
          <p:nvPr/>
        </p:nvPicPr>
        <p:blipFill>
          <a:blip r:embed="rId3"/>
          <a:stretch>
            <a:fillRect/>
          </a:stretch>
        </p:blipFill>
        <p:spPr>
          <a:xfrm>
            <a:off x="8982348" y="5001492"/>
            <a:ext cx="2996292" cy="176781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11274552" cy="777240"/>
          </a:xfrm>
          <a:prstGeom prst="rect">
            <a:avLst/>
          </a:prstGeom>
          <a:noFill/>
        </p:spPr>
        <p:txBody>
          <a:bodyPr wrap="none" lIns="0" tIns="0" rIns="0" bIns="0">
            <a:spAutoFit/>
          </a:bodyPr>
          <a:lstStyle/>
          <a:p>
            <a:pPr>
              <a:lnSpc>
                <a:spcPct val="110000"/>
              </a:lnSpc>
              <a:spcBef>
                <a:spcPts val="0"/>
              </a:spcBef>
              <a:spcAft>
                <a:spcPts val="0"/>
              </a:spcAft>
              <a:defRPr sz="4000" b="1" i="0">
                <a:latin typeface="Calibri"/>
              </a:defRPr>
            </a:pPr>
            <a:r>
              <a:t>Puffin-D: A CNN for Regulatory Sequence</a:t>
            </a:r>
          </a:p>
        </p:txBody>
      </p:sp>
      <p:sp>
        <p:nvSpPr>
          <p:cNvPr id="3" name="Rectangle 2"/>
          <p:cNvSpPr/>
          <p:nvPr/>
        </p:nvSpPr>
        <p:spPr>
          <a:xfrm>
            <a:off x="457200" y="1143000"/>
            <a:ext cx="1920240" cy="1234440"/>
          </a:xfrm>
          <a:prstGeom prst="rect">
            <a:avLst/>
          </a:prstGeom>
          <a:solidFill>
            <a:srgbClr val="F2F2F2"/>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lnSpc>
                <a:spcPct val="110000"/>
              </a:lnSpc>
              <a:spcBef>
                <a:spcPts val="0"/>
              </a:spcBef>
              <a:spcAft>
                <a:spcPts val="0"/>
              </a:spcAft>
              <a:defRPr sz="1300" b="1" i="0">
                <a:solidFill>
                  <a:srgbClr val="202020"/>
                </a:solidFill>
                <a:latin typeface="Calibri"/>
              </a:defRPr>
            </a:pPr>
            <a:r>
              <a:t>Input</a:t>
            </a:r>
          </a:p>
          <a:p>
            <a:pPr algn="ctr">
              <a:lnSpc>
                <a:spcPct val="110000"/>
              </a:lnSpc>
              <a:spcBef>
                <a:spcPts val="0"/>
              </a:spcBef>
              <a:spcAft>
                <a:spcPts val="0"/>
              </a:spcAft>
              <a:defRPr sz="1300" b="0" i="0">
                <a:solidFill>
                  <a:srgbClr val="202020"/>
                </a:solidFill>
                <a:latin typeface="Calibri"/>
              </a:defRPr>
            </a:pPr>
            <a:r>
              <a:t>100 kb DNA</a:t>
            </a:r>
          </a:p>
          <a:p>
            <a:pPr algn="ctr">
              <a:lnSpc>
                <a:spcPct val="110000"/>
              </a:lnSpc>
              <a:spcBef>
                <a:spcPts val="0"/>
              </a:spcBef>
              <a:spcAft>
                <a:spcPts val="0"/>
              </a:spcAft>
              <a:defRPr sz="1300" b="0" i="0">
                <a:solidFill>
                  <a:srgbClr val="202020"/>
                </a:solidFill>
                <a:latin typeface="Calibri"/>
              </a:defRPr>
            </a:pPr>
            <a:r>
              <a:t>(one-hot)</a:t>
            </a:r>
          </a:p>
        </p:txBody>
      </p:sp>
      <p:sp>
        <p:nvSpPr>
          <p:cNvPr id="4" name="Rectangle 3"/>
          <p:cNvSpPr/>
          <p:nvPr/>
        </p:nvSpPr>
        <p:spPr>
          <a:xfrm>
            <a:off x="2788920" y="1143000"/>
            <a:ext cx="1920240" cy="1234440"/>
          </a:xfrm>
          <a:prstGeom prst="rect">
            <a:avLst/>
          </a:prstGeom>
          <a:solidFill>
            <a:srgbClr val="F2F2F2"/>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lnSpc>
                <a:spcPct val="110000"/>
              </a:lnSpc>
              <a:spcBef>
                <a:spcPts val="0"/>
              </a:spcBef>
              <a:spcAft>
                <a:spcPts val="0"/>
              </a:spcAft>
              <a:defRPr sz="1300" b="1" i="0">
                <a:solidFill>
                  <a:srgbClr val="202020"/>
                </a:solidFill>
                <a:latin typeface="Calibri"/>
              </a:defRPr>
            </a:pPr>
            <a:r>
              <a:t>Encoder</a:t>
            </a:r>
          </a:p>
          <a:p>
            <a:pPr algn="ctr">
              <a:lnSpc>
                <a:spcPct val="110000"/>
              </a:lnSpc>
              <a:spcBef>
                <a:spcPts val="0"/>
              </a:spcBef>
              <a:spcAft>
                <a:spcPts val="0"/>
              </a:spcAft>
              <a:defRPr sz="1300" b="0" i="0">
                <a:solidFill>
                  <a:srgbClr val="202020"/>
                </a:solidFill>
                <a:latin typeface="Calibri"/>
              </a:defRPr>
            </a:pPr>
            <a:r>
              <a:t>strided + dilated</a:t>
            </a:r>
          </a:p>
          <a:p>
            <a:pPr algn="ctr">
              <a:lnSpc>
                <a:spcPct val="110000"/>
              </a:lnSpc>
              <a:spcBef>
                <a:spcPts val="0"/>
              </a:spcBef>
              <a:spcAft>
                <a:spcPts val="0"/>
              </a:spcAft>
              <a:defRPr sz="1300" b="0" i="0">
                <a:solidFill>
                  <a:srgbClr val="202020"/>
                </a:solidFill>
                <a:latin typeface="Calibri"/>
              </a:defRPr>
            </a:pPr>
            <a:r>
              <a:t>conv blocks</a:t>
            </a:r>
          </a:p>
        </p:txBody>
      </p:sp>
      <p:sp>
        <p:nvSpPr>
          <p:cNvPr id="5" name="Rectangle 4"/>
          <p:cNvSpPr/>
          <p:nvPr/>
        </p:nvSpPr>
        <p:spPr>
          <a:xfrm>
            <a:off x="5120640" y="1143000"/>
            <a:ext cx="1920240" cy="1234440"/>
          </a:xfrm>
          <a:prstGeom prst="rect">
            <a:avLst/>
          </a:prstGeom>
          <a:solidFill>
            <a:srgbClr val="F2F2F2"/>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lnSpc>
                <a:spcPct val="110000"/>
              </a:lnSpc>
              <a:spcBef>
                <a:spcPts val="0"/>
              </a:spcBef>
              <a:spcAft>
                <a:spcPts val="0"/>
              </a:spcAft>
              <a:defRPr sz="1300" b="1" i="0">
                <a:solidFill>
                  <a:srgbClr val="202020"/>
                </a:solidFill>
                <a:latin typeface="Calibri"/>
              </a:defRPr>
            </a:pPr>
            <a:r>
              <a:t>Bottleneck</a:t>
            </a:r>
          </a:p>
          <a:p>
            <a:pPr algn="ctr">
              <a:lnSpc>
                <a:spcPct val="110000"/>
              </a:lnSpc>
              <a:spcBef>
                <a:spcPts val="0"/>
              </a:spcBef>
              <a:spcAft>
                <a:spcPts val="0"/>
              </a:spcAft>
              <a:defRPr sz="1300" b="0" i="0">
                <a:solidFill>
                  <a:srgbClr val="202020"/>
                </a:solidFill>
                <a:latin typeface="Calibri"/>
              </a:defRPr>
            </a:pPr>
            <a:r>
              <a:t>embedding</a:t>
            </a:r>
          </a:p>
          <a:p>
            <a:pPr algn="ctr">
              <a:lnSpc>
                <a:spcPct val="110000"/>
              </a:lnSpc>
              <a:spcBef>
                <a:spcPts val="0"/>
              </a:spcBef>
              <a:spcAft>
                <a:spcPts val="0"/>
              </a:spcAft>
              <a:defRPr sz="1300" b="0" i="0">
                <a:solidFill>
                  <a:srgbClr val="202020"/>
                </a:solidFill>
                <a:latin typeface="Calibri"/>
              </a:defRPr>
            </a:pPr>
            <a:endParaRPr/>
          </a:p>
        </p:txBody>
      </p:sp>
      <p:sp>
        <p:nvSpPr>
          <p:cNvPr id="6" name="Rectangle 5"/>
          <p:cNvSpPr/>
          <p:nvPr/>
        </p:nvSpPr>
        <p:spPr>
          <a:xfrm>
            <a:off x="7452360" y="1143000"/>
            <a:ext cx="1920240" cy="1234440"/>
          </a:xfrm>
          <a:prstGeom prst="rect">
            <a:avLst/>
          </a:prstGeom>
          <a:solidFill>
            <a:srgbClr val="F2F2F2"/>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lnSpc>
                <a:spcPct val="110000"/>
              </a:lnSpc>
              <a:spcBef>
                <a:spcPts val="0"/>
              </a:spcBef>
              <a:spcAft>
                <a:spcPts val="0"/>
              </a:spcAft>
              <a:defRPr sz="1300" b="1" i="0">
                <a:solidFill>
                  <a:srgbClr val="202020"/>
                </a:solidFill>
                <a:latin typeface="Calibri"/>
              </a:defRPr>
            </a:pPr>
            <a:r>
              <a:t>Decoder</a:t>
            </a:r>
          </a:p>
          <a:p>
            <a:pPr algn="ctr">
              <a:lnSpc>
                <a:spcPct val="110000"/>
              </a:lnSpc>
              <a:spcBef>
                <a:spcPts val="0"/>
              </a:spcBef>
              <a:spcAft>
                <a:spcPts val="0"/>
              </a:spcAft>
              <a:defRPr sz="1300" b="0" i="0">
                <a:solidFill>
                  <a:srgbClr val="202020"/>
                </a:solidFill>
                <a:latin typeface="Calibri"/>
              </a:defRPr>
            </a:pPr>
            <a:r>
              <a:t>upsample +</a:t>
            </a:r>
          </a:p>
          <a:p>
            <a:pPr algn="ctr">
              <a:lnSpc>
                <a:spcPct val="110000"/>
              </a:lnSpc>
              <a:spcBef>
                <a:spcPts val="0"/>
              </a:spcBef>
              <a:spcAft>
                <a:spcPts val="0"/>
              </a:spcAft>
              <a:defRPr sz="1300" b="0" i="0">
                <a:solidFill>
                  <a:srgbClr val="202020"/>
                </a:solidFill>
                <a:latin typeface="Calibri"/>
              </a:defRPr>
            </a:pPr>
            <a:r>
              <a:t>skip connections</a:t>
            </a:r>
          </a:p>
        </p:txBody>
      </p:sp>
      <p:sp>
        <p:nvSpPr>
          <p:cNvPr id="7" name="Rectangle 6"/>
          <p:cNvSpPr/>
          <p:nvPr/>
        </p:nvSpPr>
        <p:spPr>
          <a:xfrm>
            <a:off x="9784080" y="1143000"/>
            <a:ext cx="1920240" cy="1234440"/>
          </a:xfrm>
          <a:prstGeom prst="rect">
            <a:avLst/>
          </a:prstGeom>
          <a:solidFill>
            <a:srgbClr val="F2F2F2"/>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lnSpc>
                <a:spcPct val="110000"/>
              </a:lnSpc>
              <a:spcBef>
                <a:spcPts val="0"/>
              </a:spcBef>
              <a:spcAft>
                <a:spcPts val="0"/>
              </a:spcAft>
              <a:defRPr sz="1300" b="1" i="0">
                <a:solidFill>
                  <a:srgbClr val="202020"/>
                </a:solidFill>
                <a:latin typeface="Calibri"/>
              </a:defRPr>
            </a:pPr>
            <a:r>
              <a:t>Output head</a:t>
            </a:r>
          </a:p>
          <a:p>
            <a:pPr algn="ctr">
              <a:lnSpc>
                <a:spcPct val="110000"/>
              </a:lnSpc>
              <a:spcBef>
                <a:spcPts val="0"/>
              </a:spcBef>
              <a:spcAft>
                <a:spcPts val="0"/>
              </a:spcAft>
              <a:defRPr sz="1300" b="0" i="0">
                <a:solidFill>
                  <a:srgbClr val="202020"/>
                </a:solidFill>
                <a:latin typeface="Calibri"/>
              </a:defRPr>
            </a:pPr>
            <a:r>
              <a:t>per-base sigmoid</a:t>
            </a:r>
          </a:p>
          <a:p>
            <a:pPr algn="ctr">
              <a:lnSpc>
                <a:spcPct val="110000"/>
              </a:lnSpc>
              <a:spcBef>
                <a:spcPts val="0"/>
              </a:spcBef>
              <a:spcAft>
                <a:spcPts val="0"/>
              </a:spcAft>
              <a:defRPr sz="1300" b="0" i="0">
                <a:solidFill>
                  <a:srgbClr val="202020"/>
                </a:solidFill>
                <a:latin typeface="Calibri"/>
              </a:defRPr>
            </a:pPr>
            <a:endParaRPr/>
          </a:p>
        </p:txBody>
      </p:sp>
      <p:sp>
        <p:nvSpPr>
          <p:cNvPr id="8" name="Right Arrow 7"/>
          <p:cNvSpPr/>
          <p:nvPr/>
        </p:nvSpPr>
        <p:spPr>
          <a:xfrm>
            <a:off x="2395728" y="1668780"/>
            <a:ext cx="374904" cy="182880"/>
          </a:xfrm>
          <a:prstGeom prst="rightArrow">
            <a:avLst/>
          </a:prstGeom>
          <a:solidFill>
            <a:srgbClr val="606060"/>
          </a:solidFill>
          <a:ln>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ight Arrow 8"/>
          <p:cNvSpPr/>
          <p:nvPr/>
        </p:nvSpPr>
        <p:spPr>
          <a:xfrm>
            <a:off x="4727448" y="1668780"/>
            <a:ext cx="374904" cy="182880"/>
          </a:xfrm>
          <a:prstGeom prst="rightArrow">
            <a:avLst/>
          </a:prstGeom>
          <a:solidFill>
            <a:srgbClr val="606060"/>
          </a:solidFill>
          <a:ln>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ight Arrow 9"/>
          <p:cNvSpPr/>
          <p:nvPr/>
        </p:nvSpPr>
        <p:spPr>
          <a:xfrm>
            <a:off x="7059167" y="1668780"/>
            <a:ext cx="374904" cy="182880"/>
          </a:xfrm>
          <a:prstGeom prst="rightArrow">
            <a:avLst/>
          </a:prstGeom>
          <a:solidFill>
            <a:srgbClr val="606060"/>
          </a:solidFill>
          <a:ln>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ight Arrow 10"/>
          <p:cNvSpPr/>
          <p:nvPr/>
        </p:nvSpPr>
        <p:spPr>
          <a:xfrm>
            <a:off x="9390888" y="1668780"/>
            <a:ext cx="374904" cy="182880"/>
          </a:xfrm>
          <a:prstGeom prst="rightArrow">
            <a:avLst/>
          </a:prstGeom>
          <a:solidFill>
            <a:srgbClr val="606060"/>
          </a:solidFill>
          <a:ln>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2743200"/>
            <a:ext cx="5669280" cy="457200"/>
          </a:xfrm>
          <a:prstGeom prst="rect">
            <a:avLst/>
          </a:prstGeom>
          <a:noFill/>
        </p:spPr>
        <p:txBody>
          <a:bodyPr wrap="square">
            <a:spAutoFit/>
          </a:bodyPr>
          <a:lstStyle/>
          <a:p>
            <a:pPr>
              <a:lnSpc>
                <a:spcPct val="110000"/>
              </a:lnSpc>
              <a:spcBef>
                <a:spcPts val="0"/>
              </a:spcBef>
              <a:spcAft>
                <a:spcPts val="0"/>
              </a:spcAft>
              <a:defRPr sz="2200" b="1" i="0">
                <a:latin typeface="Calibri"/>
              </a:defRPr>
            </a:pPr>
            <a:r>
              <a:t>Original purpose</a:t>
            </a:r>
          </a:p>
        </p:txBody>
      </p:sp>
      <p:sp>
        <p:nvSpPr>
          <p:cNvPr id="13" name="TextBox 12"/>
          <p:cNvSpPr txBox="1"/>
          <p:nvPr/>
        </p:nvSpPr>
        <p:spPr>
          <a:xfrm>
            <a:off x="457200" y="3246120"/>
            <a:ext cx="5669280" cy="1634102"/>
          </a:xfrm>
          <a:prstGeom prst="rect">
            <a:avLst/>
          </a:prstGeom>
          <a:noFill/>
        </p:spPr>
        <p:txBody>
          <a:bodyPr wrap="square">
            <a:spAutoFit/>
          </a:bodyPr>
          <a:lstStyle/>
          <a:p>
            <a:pPr>
              <a:lnSpc>
                <a:spcPct val="150000"/>
              </a:lnSpc>
              <a:spcBef>
                <a:spcPts val="0"/>
              </a:spcBef>
              <a:spcAft>
                <a:spcPts val="0"/>
              </a:spcAft>
              <a:defRPr sz="1600" b="0" i="0">
                <a:latin typeface="Calibri"/>
              </a:defRPr>
            </a:pPr>
            <a:r>
              <a:rPr dirty="0"/>
              <a:t>•   Predicting transcription start sites and core promoter elements</a:t>
            </a:r>
          </a:p>
          <a:p>
            <a:pPr>
              <a:lnSpc>
                <a:spcPct val="150000"/>
              </a:lnSpc>
              <a:spcBef>
                <a:spcPts val="400"/>
              </a:spcBef>
              <a:spcAft>
                <a:spcPts val="0"/>
              </a:spcAft>
              <a:defRPr sz="1600" b="0" i="0">
                <a:latin typeface="Calibri"/>
              </a:defRPr>
            </a:pPr>
            <a:r>
              <a:rPr dirty="0"/>
              <a:t>•   Trained on CAGE-seq and ENCODE annotation data</a:t>
            </a:r>
          </a:p>
          <a:p>
            <a:pPr>
              <a:lnSpc>
                <a:spcPct val="150000"/>
              </a:lnSpc>
              <a:spcBef>
                <a:spcPts val="400"/>
              </a:spcBef>
              <a:spcAft>
                <a:spcPts val="0"/>
              </a:spcAft>
              <a:defRPr sz="1600" b="0" i="0">
                <a:latin typeface="Calibri"/>
              </a:defRPr>
            </a:pPr>
            <a:r>
              <a:rPr dirty="0"/>
              <a:t>•   Designed to capture both local motifs (TATA, </a:t>
            </a:r>
            <a:r>
              <a:rPr dirty="0" err="1"/>
              <a:t>Inr</a:t>
            </a:r>
            <a:r>
              <a:rPr dirty="0"/>
              <a:t>) and broader compositional patterns (CpG islands, GC content)</a:t>
            </a:r>
          </a:p>
        </p:txBody>
      </p:sp>
      <p:sp>
        <p:nvSpPr>
          <p:cNvPr id="14" name="TextBox 13"/>
          <p:cNvSpPr txBox="1"/>
          <p:nvPr/>
        </p:nvSpPr>
        <p:spPr>
          <a:xfrm>
            <a:off x="6400800" y="2743200"/>
            <a:ext cx="5486400" cy="457200"/>
          </a:xfrm>
          <a:prstGeom prst="rect">
            <a:avLst/>
          </a:prstGeom>
          <a:noFill/>
        </p:spPr>
        <p:txBody>
          <a:bodyPr wrap="square">
            <a:spAutoFit/>
          </a:bodyPr>
          <a:lstStyle/>
          <a:p>
            <a:pPr>
              <a:lnSpc>
                <a:spcPct val="110000"/>
              </a:lnSpc>
              <a:spcBef>
                <a:spcPts val="0"/>
              </a:spcBef>
              <a:spcAft>
                <a:spcPts val="0"/>
              </a:spcAft>
              <a:defRPr sz="2200" b="1" i="0">
                <a:latin typeface="Calibri"/>
              </a:defRPr>
            </a:pPr>
            <a:r>
              <a:t>Model structure</a:t>
            </a:r>
          </a:p>
        </p:txBody>
      </p:sp>
      <p:sp>
        <p:nvSpPr>
          <p:cNvPr id="15" name="TextBox 14"/>
          <p:cNvSpPr txBox="1"/>
          <p:nvPr/>
        </p:nvSpPr>
        <p:spPr>
          <a:xfrm>
            <a:off x="6400800" y="3246120"/>
            <a:ext cx="5791200" cy="3096040"/>
          </a:xfrm>
          <a:prstGeom prst="rect">
            <a:avLst/>
          </a:prstGeom>
          <a:noFill/>
        </p:spPr>
        <p:txBody>
          <a:bodyPr wrap="square">
            <a:spAutoFit/>
          </a:bodyPr>
          <a:lstStyle/>
          <a:p>
            <a:pPr>
              <a:lnSpc>
                <a:spcPct val="125000"/>
              </a:lnSpc>
              <a:spcBef>
                <a:spcPts val="0"/>
              </a:spcBef>
              <a:spcAft>
                <a:spcPts val="0"/>
              </a:spcAft>
              <a:defRPr sz="1600" b="0" i="0">
                <a:latin typeface="Calibri"/>
              </a:defRPr>
            </a:pPr>
            <a:r>
              <a:rPr dirty="0"/>
              <a:t>•   Input: 100,000 bp DNA window, one-hot encoded (4 channels: A,</a:t>
            </a:r>
            <a:br>
              <a:rPr lang="en-US" dirty="0"/>
            </a:br>
            <a:r>
              <a:rPr lang="en-US" dirty="0"/>
              <a:t>     </a:t>
            </a:r>
            <a:r>
              <a:rPr dirty="0"/>
              <a:t>C, G, T)</a:t>
            </a:r>
          </a:p>
          <a:p>
            <a:pPr>
              <a:lnSpc>
                <a:spcPct val="125000"/>
              </a:lnSpc>
              <a:spcBef>
                <a:spcPts val="400"/>
              </a:spcBef>
              <a:spcAft>
                <a:spcPts val="0"/>
              </a:spcAft>
              <a:defRPr sz="1600" b="0" i="0">
                <a:latin typeface="Calibri"/>
              </a:defRPr>
            </a:pPr>
            <a:r>
              <a:rPr dirty="0"/>
              <a:t>•   Dilated convolutions: receptive field grows exponentially without</a:t>
            </a:r>
            <a:endParaRPr lang="en-US" dirty="0"/>
          </a:p>
          <a:p>
            <a:pPr>
              <a:lnSpc>
                <a:spcPct val="125000"/>
              </a:lnSpc>
              <a:spcBef>
                <a:spcPts val="400"/>
              </a:spcBef>
              <a:spcAft>
                <a:spcPts val="0"/>
              </a:spcAft>
              <a:defRPr sz="1600" b="0" i="0">
                <a:latin typeface="Calibri"/>
              </a:defRPr>
            </a:pPr>
            <a:r>
              <a:rPr lang="en-US" dirty="0"/>
              <a:t>      </a:t>
            </a:r>
            <a:r>
              <a:rPr dirty="0"/>
              <a:t>losing per-base resolution</a:t>
            </a:r>
          </a:p>
          <a:p>
            <a:pPr>
              <a:lnSpc>
                <a:spcPct val="125000"/>
              </a:lnSpc>
              <a:spcBef>
                <a:spcPts val="400"/>
              </a:spcBef>
              <a:spcAft>
                <a:spcPts val="0"/>
              </a:spcAft>
              <a:defRPr sz="1600" b="0" i="0">
                <a:latin typeface="Calibri"/>
              </a:defRPr>
            </a:pPr>
            <a:r>
              <a:rPr dirty="0"/>
              <a:t>•   Double U-Net: two stacked encode/decode paths for richer long</a:t>
            </a:r>
            <a:br>
              <a:rPr lang="en-US" dirty="0"/>
            </a:br>
            <a:r>
              <a:rPr lang="en-US" dirty="0"/>
              <a:t>     </a:t>
            </a:r>
            <a:r>
              <a:rPr dirty="0"/>
              <a:t>range integration</a:t>
            </a:r>
          </a:p>
          <a:p>
            <a:pPr>
              <a:lnSpc>
                <a:spcPct val="125000"/>
              </a:lnSpc>
              <a:spcBef>
                <a:spcPts val="400"/>
              </a:spcBef>
              <a:spcAft>
                <a:spcPts val="0"/>
              </a:spcAft>
              <a:defRPr sz="1600" b="0" i="0">
                <a:latin typeface="Calibri"/>
              </a:defRPr>
            </a:pPr>
            <a:r>
              <a:rPr dirty="0"/>
              <a:t>•   Skip connections preserve fine-scale detail through the</a:t>
            </a:r>
            <a:br>
              <a:rPr lang="en-US" dirty="0"/>
            </a:br>
            <a:r>
              <a:rPr lang="en-US" dirty="0"/>
              <a:t>     </a:t>
            </a:r>
            <a:r>
              <a:rPr dirty="0"/>
              <a:t>bottleneck</a:t>
            </a:r>
          </a:p>
          <a:p>
            <a:pPr>
              <a:lnSpc>
                <a:spcPct val="125000"/>
              </a:lnSpc>
              <a:spcBef>
                <a:spcPts val="400"/>
              </a:spcBef>
              <a:spcAft>
                <a:spcPts val="0"/>
              </a:spcAft>
              <a:defRPr sz="1600" b="0" i="0">
                <a:latin typeface="Calibri"/>
              </a:defRPr>
            </a:pPr>
            <a:r>
              <a:rPr dirty="0"/>
              <a:t>•   Output: per-base predictions, one probability per input position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11274552" cy="777240"/>
          </a:xfrm>
          <a:prstGeom prst="rect">
            <a:avLst/>
          </a:prstGeom>
          <a:noFill/>
        </p:spPr>
        <p:txBody>
          <a:bodyPr wrap="none" lIns="0" tIns="0" rIns="0" bIns="0">
            <a:spAutoFit/>
          </a:bodyPr>
          <a:lstStyle/>
          <a:p>
            <a:pPr>
              <a:lnSpc>
                <a:spcPct val="110000"/>
              </a:lnSpc>
              <a:spcBef>
                <a:spcPts val="0"/>
              </a:spcBef>
              <a:spcAft>
                <a:spcPts val="0"/>
              </a:spcAft>
              <a:defRPr sz="4000" b="1" i="0">
                <a:latin typeface="Calibri"/>
              </a:defRPr>
            </a:pPr>
            <a:r>
              <a:t>Adapting Puffin-D for Enhancer Prediction</a:t>
            </a:r>
          </a:p>
        </p:txBody>
      </p:sp>
      <p:sp>
        <p:nvSpPr>
          <p:cNvPr id="3" name="Rectangle 2"/>
          <p:cNvSpPr/>
          <p:nvPr/>
        </p:nvSpPr>
        <p:spPr>
          <a:xfrm>
            <a:off x="457200" y="1143000"/>
            <a:ext cx="1920240" cy="1234440"/>
          </a:xfrm>
          <a:prstGeom prst="rect">
            <a:avLst/>
          </a:prstGeom>
          <a:solidFill>
            <a:srgbClr val="F2F2F2"/>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lnSpc>
                <a:spcPct val="110000"/>
              </a:lnSpc>
              <a:spcBef>
                <a:spcPts val="0"/>
              </a:spcBef>
              <a:spcAft>
                <a:spcPts val="0"/>
              </a:spcAft>
              <a:defRPr sz="1300" b="1" i="0">
                <a:solidFill>
                  <a:srgbClr val="202020"/>
                </a:solidFill>
                <a:latin typeface="Calibri"/>
              </a:defRPr>
            </a:pPr>
            <a:r>
              <a:t>Input</a:t>
            </a:r>
          </a:p>
          <a:p>
            <a:pPr algn="ctr">
              <a:lnSpc>
                <a:spcPct val="110000"/>
              </a:lnSpc>
              <a:spcBef>
                <a:spcPts val="0"/>
              </a:spcBef>
              <a:spcAft>
                <a:spcPts val="0"/>
              </a:spcAft>
              <a:defRPr sz="1300" b="0" i="0">
                <a:solidFill>
                  <a:srgbClr val="202020"/>
                </a:solidFill>
                <a:latin typeface="Calibri"/>
              </a:defRPr>
            </a:pPr>
            <a:r>
              <a:t>100 kb DNA</a:t>
            </a:r>
          </a:p>
          <a:p>
            <a:pPr algn="ctr">
              <a:lnSpc>
                <a:spcPct val="110000"/>
              </a:lnSpc>
              <a:spcBef>
                <a:spcPts val="0"/>
              </a:spcBef>
              <a:spcAft>
                <a:spcPts val="0"/>
              </a:spcAft>
              <a:defRPr sz="1300" b="0" i="0">
                <a:solidFill>
                  <a:srgbClr val="202020"/>
                </a:solidFill>
                <a:latin typeface="Calibri"/>
              </a:defRPr>
            </a:pPr>
            <a:r>
              <a:t>(one-hot)</a:t>
            </a:r>
          </a:p>
        </p:txBody>
      </p:sp>
      <p:sp>
        <p:nvSpPr>
          <p:cNvPr id="4" name="Rectangle 3"/>
          <p:cNvSpPr/>
          <p:nvPr/>
        </p:nvSpPr>
        <p:spPr>
          <a:xfrm>
            <a:off x="2788920" y="1143000"/>
            <a:ext cx="1920240" cy="1234440"/>
          </a:xfrm>
          <a:prstGeom prst="rect">
            <a:avLst/>
          </a:prstGeom>
          <a:solidFill>
            <a:srgbClr val="F2F2F2"/>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lnSpc>
                <a:spcPct val="110000"/>
              </a:lnSpc>
              <a:spcBef>
                <a:spcPts val="0"/>
              </a:spcBef>
              <a:spcAft>
                <a:spcPts val="0"/>
              </a:spcAft>
              <a:defRPr sz="1300" b="1" i="0">
                <a:solidFill>
                  <a:srgbClr val="202020"/>
                </a:solidFill>
                <a:latin typeface="Calibri"/>
              </a:defRPr>
            </a:pPr>
            <a:r>
              <a:t>Encoder</a:t>
            </a:r>
          </a:p>
          <a:p>
            <a:pPr algn="ctr">
              <a:lnSpc>
                <a:spcPct val="110000"/>
              </a:lnSpc>
              <a:spcBef>
                <a:spcPts val="0"/>
              </a:spcBef>
              <a:spcAft>
                <a:spcPts val="0"/>
              </a:spcAft>
              <a:defRPr sz="1300" b="0" i="0">
                <a:solidFill>
                  <a:srgbClr val="202020"/>
                </a:solidFill>
                <a:latin typeface="Calibri"/>
              </a:defRPr>
            </a:pPr>
            <a:r>
              <a:t>strided + dilated</a:t>
            </a:r>
          </a:p>
          <a:p>
            <a:pPr algn="ctr">
              <a:lnSpc>
                <a:spcPct val="110000"/>
              </a:lnSpc>
              <a:spcBef>
                <a:spcPts val="0"/>
              </a:spcBef>
              <a:spcAft>
                <a:spcPts val="0"/>
              </a:spcAft>
              <a:defRPr sz="1300" b="0" i="0">
                <a:solidFill>
                  <a:srgbClr val="202020"/>
                </a:solidFill>
                <a:latin typeface="Calibri"/>
              </a:defRPr>
            </a:pPr>
            <a:r>
              <a:t>conv blocks</a:t>
            </a:r>
          </a:p>
        </p:txBody>
      </p:sp>
      <p:sp>
        <p:nvSpPr>
          <p:cNvPr id="5" name="Rectangle 4"/>
          <p:cNvSpPr/>
          <p:nvPr/>
        </p:nvSpPr>
        <p:spPr>
          <a:xfrm>
            <a:off x="5120640" y="1143000"/>
            <a:ext cx="1920240" cy="1234440"/>
          </a:xfrm>
          <a:prstGeom prst="rect">
            <a:avLst/>
          </a:prstGeom>
          <a:solidFill>
            <a:srgbClr val="F2F2F2"/>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lnSpc>
                <a:spcPct val="110000"/>
              </a:lnSpc>
              <a:spcBef>
                <a:spcPts val="0"/>
              </a:spcBef>
              <a:spcAft>
                <a:spcPts val="0"/>
              </a:spcAft>
              <a:defRPr sz="1300" b="1" i="0">
                <a:solidFill>
                  <a:srgbClr val="202020"/>
                </a:solidFill>
                <a:latin typeface="Calibri"/>
              </a:defRPr>
            </a:pPr>
            <a:r>
              <a:t>Bottleneck</a:t>
            </a:r>
          </a:p>
          <a:p>
            <a:pPr algn="ctr">
              <a:lnSpc>
                <a:spcPct val="110000"/>
              </a:lnSpc>
              <a:spcBef>
                <a:spcPts val="0"/>
              </a:spcBef>
              <a:spcAft>
                <a:spcPts val="0"/>
              </a:spcAft>
              <a:defRPr sz="1300" b="0" i="0">
                <a:solidFill>
                  <a:srgbClr val="202020"/>
                </a:solidFill>
                <a:latin typeface="Calibri"/>
              </a:defRPr>
            </a:pPr>
            <a:r>
              <a:t>embedding</a:t>
            </a:r>
          </a:p>
          <a:p>
            <a:pPr algn="ctr">
              <a:lnSpc>
                <a:spcPct val="110000"/>
              </a:lnSpc>
              <a:spcBef>
                <a:spcPts val="0"/>
              </a:spcBef>
              <a:spcAft>
                <a:spcPts val="0"/>
              </a:spcAft>
              <a:defRPr sz="1300" b="0" i="0">
                <a:solidFill>
                  <a:srgbClr val="202020"/>
                </a:solidFill>
                <a:latin typeface="Calibri"/>
              </a:defRPr>
            </a:pPr>
            <a:endParaRPr/>
          </a:p>
        </p:txBody>
      </p:sp>
      <p:sp>
        <p:nvSpPr>
          <p:cNvPr id="6" name="Rectangle 5"/>
          <p:cNvSpPr/>
          <p:nvPr/>
        </p:nvSpPr>
        <p:spPr>
          <a:xfrm>
            <a:off x="7452360" y="1143000"/>
            <a:ext cx="1920240" cy="1234440"/>
          </a:xfrm>
          <a:prstGeom prst="rect">
            <a:avLst/>
          </a:prstGeom>
          <a:solidFill>
            <a:srgbClr val="F2F2F2"/>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lnSpc>
                <a:spcPct val="110000"/>
              </a:lnSpc>
              <a:spcBef>
                <a:spcPts val="0"/>
              </a:spcBef>
              <a:spcAft>
                <a:spcPts val="0"/>
              </a:spcAft>
              <a:defRPr sz="1300" b="1" i="0">
                <a:solidFill>
                  <a:srgbClr val="202020"/>
                </a:solidFill>
                <a:latin typeface="Calibri"/>
              </a:defRPr>
            </a:pPr>
            <a:r>
              <a:t>Decoder</a:t>
            </a:r>
          </a:p>
          <a:p>
            <a:pPr algn="ctr">
              <a:lnSpc>
                <a:spcPct val="110000"/>
              </a:lnSpc>
              <a:spcBef>
                <a:spcPts val="0"/>
              </a:spcBef>
              <a:spcAft>
                <a:spcPts val="0"/>
              </a:spcAft>
              <a:defRPr sz="1300" b="0" i="0">
                <a:solidFill>
                  <a:srgbClr val="202020"/>
                </a:solidFill>
                <a:latin typeface="Calibri"/>
              </a:defRPr>
            </a:pPr>
            <a:r>
              <a:t>upsample +</a:t>
            </a:r>
          </a:p>
          <a:p>
            <a:pPr algn="ctr">
              <a:lnSpc>
                <a:spcPct val="110000"/>
              </a:lnSpc>
              <a:spcBef>
                <a:spcPts val="0"/>
              </a:spcBef>
              <a:spcAft>
                <a:spcPts val="0"/>
              </a:spcAft>
              <a:defRPr sz="1300" b="0" i="0">
                <a:solidFill>
                  <a:srgbClr val="202020"/>
                </a:solidFill>
                <a:latin typeface="Calibri"/>
              </a:defRPr>
            </a:pPr>
            <a:r>
              <a:t>skip connections</a:t>
            </a:r>
          </a:p>
        </p:txBody>
      </p:sp>
      <p:sp>
        <p:nvSpPr>
          <p:cNvPr id="7" name="Rectangle 6"/>
          <p:cNvSpPr/>
          <p:nvPr/>
        </p:nvSpPr>
        <p:spPr>
          <a:xfrm>
            <a:off x="9784080" y="1143000"/>
            <a:ext cx="1920240" cy="1234440"/>
          </a:xfrm>
          <a:prstGeom prst="rect">
            <a:avLst/>
          </a:prstGeom>
          <a:solidFill>
            <a:srgbClr val="FFC864"/>
          </a:solidFill>
          <a:ln w="31750">
            <a:solidFill>
              <a:srgbClr val="404040"/>
            </a:solidFill>
          </a:ln>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lnSpc>
                <a:spcPct val="110000"/>
              </a:lnSpc>
              <a:spcBef>
                <a:spcPts val="0"/>
              </a:spcBef>
              <a:spcAft>
                <a:spcPts val="0"/>
              </a:spcAft>
              <a:defRPr sz="1300" b="1" i="0">
                <a:solidFill>
                  <a:srgbClr val="202020"/>
                </a:solidFill>
                <a:latin typeface="Calibri"/>
              </a:defRPr>
            </a:pPr>
            <a:r>
              <a:t>Output head</a:t>
            </a:r>
          </a:p>
          <a:p>
            <a:pPr algn="ctr">
              <a:lnSpc>
                <a:spcPct val="110000"/>
              </a:lnSpc>
              <a:spcBef>
                <a:spcPts val="0"/>
              </a:spcBef>
              <a:spcAft>
                <a:spcPts val="0"/>
              </a:spcAft>
              <a:defRPr sz="1300" b="0" i="0">
                <a:solidFill>
                  <a:srgbClr val="202020"/>
                </a:solidFill>
                <a:latin typeface="Calibri"/>
              </a:defRPr>
            </a:pPr>
            <a:r>
              <a:t>per-base sigmoid</a:t>
            </a:r>
          </a:p>
          <a:p>
            <a:pPr algn="ctr">
              <a:lnSpc>
                <a:spcPct val="110000"/>
              </a:lnSpc>
              <a:spcBef>
                <a:spcPts val="0"/>
              </a:spcBef>
              <a:spcAft>
                <a:spcPts val="0"/>
              </a:spcAft>
              <a:defRPr sz="1300" b="0" i="0">
                <a:solidFill>
                  <a:srgbClr val="202020"/>
                </a:solidFill>
                <a:latin typeface="Calibri"/>
              </a:defRPr>
            </a:pPr>
            <a:endParaRPr/>
          </a:p>
        </p:txBody>
      </p:sp>
      <p:sp>
        <p:nvSpPr>
          <p:cNvPr id="8" name="Right Arrow 7"/>
          <p:cNvSpPr/>
          <p:nvPr/>
        </p:nvSpPr>
        <p:spPr>
          <a:xfrm>
            <a:off x="2395728" y="1668780"/>
            <a:ext cx="374904" cy="182880"/>
          </a:xfrm>
          <a:prstGeom prst="rightArrow">
            <a:avLst/>
          </a:prstGeom>
          <a:solidFill>
            <a:srgbClr val="606060"/>
          </a:solidFill>
          <a:ln>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ight Arrow 8"/>
          <p:cNvSpPr/>
          <p:nvPr/>
        </p:nvSpPr>
        <p:spPr>
          <a:xfrm>
            <a:off x="4727448" y="1668780"/>
            <a:ext cx="374904" cy="182880"/>
          </a:xfrm>
          <a:prstGeom prst="rightArrow">
            <a:avLst/>
          </a:prstGeom>
          <a:solidFill>
            <a:srgbClr val="606060"/>
          </a:solidFill>
          <a:ln>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ight Arrow 9"/>
          <p:cNvSpPr/>
          <p:nvPr/>
        </p:nvSpPr>
        <p:spPr>
          <a:xfrm>
            <a:off x="7059167" y="1668780"/>
            <a:ext cx="374904" cy="182880"/>
          </a:xfrm>
          <a:prstGeom prst="rightArrow">
            <a:avLst/>
          </a:prstGeom>
          <a:solidFill>
            <a:srgbClr val="606060"/>
          </a:solidFill>
          <a:ln>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ight Arrow 10"/>
          <p:cNvSpPr/>
          <p:nvPr/>
        </p:nvSpPr>
        <p:spPr>
          <a:xfrm>
            <a:off x="9390888" y="1668780"/>
            <a:ext cx="374904" cy="182880"/>
          </a:xfrm>
          <a:prstGeom prst="rightArrow">
            <a:avLst/>
          </a:prstGeom>
          <a:solidFill>
            <a:srgbClr val="606060"/>
          </a:solidFill>
          <a:ln>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Up Arrow 11"/>
          <p:cNvSpPr/>
          <p:nvPr/>
        </p:nvSpPr>
        <p:spPr>
          <a:xfrm>
            <a:off x="10500360" y="2439162"/>
            <a:ext cx="182880" cy="164592"/>
          </a:xfrm>
          <a:prstGeom prst="upArrow">
            <a:avLst/>
          </a:prstGeom>
          <a:solidFill>
            <a:srgbClr val="606060"/>
          </a:solidFill>
          <a:ln>
            <a:solidFill>
              <a:srgbClr val="606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3520440"/>
            <a:ext cx="5669280" cy="457200"/>
          </a:xfrm>
          <a:prstGeom prst="rect">
            <a:avLst/>
          </a:prstGeom>
          <a:noFill/>
        </p:spPr>
        <p:txBody>
          <a:bodyPr wrap="square">
            <a:spAutoFit/>
          </a:bodyPr>
          <a:lstStyle/>
          <a:p>
            <a:pPr>
              <a:lnSpc>
                <a:spcPct val="110000"/>
              </a:lnSpc>
              <a:spcBef>
                <a:spcPts val="0"/>
              </a:spcBef>
              <a:spcAft>
                <a:spcPts val="0"/>
              </a:spcAft>
              <a:defRPr sz="2200" b="1" i="0">
                <a:latin typeface="Calibri"/>
              </a:defRPr>
            </a:pPr>
            <a:r>
              <a:t>Training</a:t>
            </a:r>
          </a:p>
        </p:txBody>
      </p:sp>
      <p:sp>
        <p:nvSpPr>
          <p:cNvPr id="16" name="TextBox 15"/>
          <p:cNvSpPr txBox="1"/>
          <p:nvPr/>
        </p:nvSpPr>
        <p:spPr>
          <a:xfrm>
            <a:off x="457200" y="4023360"/>
            <a:ext cx="5669280" cy="2743200"/>
          </a:xfrm>
          <a:prstGeom prst="rect">
            <a:avLst/>
          </a:prstGeom>
          <a:noFill/>
        </p:spPr>
        <p:txBody>
          <a:bodyPr wrap="square">
            <a:spAutoFit/>
          </a:bodyPr>
          <a:lstStyle/>
          <a:p>
            <a:pPr>
              <a:lnSpc>
                <a:spcPct val="125000"/>
              </a:lnSpc>
              <a:spcBef>
                <a:spcPts val="0"/>
              </a:spcBef>
              <a:spcAft>
                <a:spcPts val="0"/>
              </a:spcAft>
              <a:defRPr sz="1600" b="0" i="0">
                <a:latin typeface="Calibri"/>
              </a:defRPr>
            </a:pPr>
            <a:r>
              <a:t>•   Loss: BCE with pos_weight=25 (handles 1.3% positive rate)</a:t>
            </a:r>
          </a:p>
          <a:p>
            <a:pPr>
              <a:lnSpc>
                <a:spcPct val="125000"/>
              </a:lnSpc>
              <a:spcBef>
                <a:spcPts val="400"/>
              </a:spcBef>
              <a:spcAft>
                <a:spcPts val="0"/>
              </a:spcAft>
              <a:defRPr sz="1600" b="0" i="0">
                <a:latin typeface="Calibri"/>
              </a:defRPr>
            </a:pPr>
            <a:r>
              <a:t>•   Optimizer: AdamW, lr 5e-4, weight decay 1e-4, plateau decay</a:t>
            </a:r>
          </a:p>
          <a:p>
            <a:pPr>
              <a:lnSpc>
                <a:spcPct val="125000"/>
              </a:lnSpc>
              <a:spcBef>
                <a:spcPts val="400"/>
              </a:spcBef>
              <a:spcAft>
                <a:spcPts val="0"/>
              </a:spcAft>
              <a:defRPr sz="1600" b="0" i="0">
                <a:latin typeface="Calibri"/>
              </a:defRPr>
            </a:pPr>
            <a:r>
              <a:t>•   Batch size: 4. Mixed precision (bf16)</a:t>
            </a:r>
          </a:p>
          <a:p>
            <a:pPr>
              <a:lnSpc>
                <a:spcPct val="125000"/>
              </a:lnSpc>
              <a:spcBef>
                <a:spcPts val="400"/>
              </a:spcBef>
              <a:spcAft>
                <a:spcPts val="0"/>
              </a:spcAft>
              <a:defRPr sz="1600" b="0" i="0">
                <a:latin typeface="Calibri"/>
              </a:defRPr>
            </a:pPr>
            <a:r>
              <a:t>•   2,500 windows sampled per epoch</a:t>
            </a:r>
          </a:p>
          <a:p>
            <a:pPr>
              <a:lnSpc>
                <a:spcPct val="125000"/>
              </a:lnSpc>
              <a:spcBef>
                <a:spcPts val="400"/>
              </a:spcBef>
              <a:spcAft>
                <a:spcPts val="0"/>
              </a:spcAft>
              <a:defRPr sz="1600" b="0" i="0">
                <a:latin typeface="Calibri"/>
              </a:defRPr>
            </a:pPr>
            <a:r>
              <a:t>•   From-scratch: 35 epochs, ~3.5 hours on one Blackwell GPU</a:t>
            </a:r>
          </a:p>
          <a:p>
            <a:pPr>
              <a:lnSpc>
                <a:spcPct val="125000"/>
              </a:lnSpc>
              <a:spcBef>
                <a:spcPts val="400"/>
              </a:spcBef>
              <a:spcAft>
                <a:spcPts val="0"/>
              </a:spcAft>
              <a:defRPr sz="1600" b="0" i="0">
                <a:latin typeface="Calibri"/>
              </a:defRPr>
            </a:pPr>
            <a:r>
              <a:t>•   Pretrained: 7 epochs, ~45 minutes on one Blackwell GPU</a:t>
            </a:r>
          </a:p>
        </p:txBody>
      </p:sp>
      <p:sp>
        <p:nvSpPr>
          <p:cNvPr id="17" name="TextBox 16"/>
          <p:cNvSpPr txBox="1"/>
          <p:nvPr/>
        </p:nvSpPr>
        <p:spPr>
          <a:xfrm>
            <a:off x="6400800" y="3520440"/>
            <a:ext cx="5486400" cy="457200"/>
          </a:xfrm>
          <a:prstGeom prst="rect">
            <a:avLst/>
          </a:prstGeom>
          <a:noFill/>
        </p:spPr>
        <p:txBody>
          <a:bodyPr wrap="square">
            <a:spAutoFit/>
          </a:bodyPr>
          <a:lstStyle/>
          <a:p>
            <a:pPr>
              <a:lnSpc>
                <a:spcPct val="110000"/>
              </a:lnSpc>
              <a:spcBef>
                <a:spcPts val="0"/>
              </a:spcBef>
              <a:spcAft>
                <a:spcPts val="0"/>
              </a:spcAft>
              <a:defRPr sz="2200" b="1" i="0">
                <a:latin typeface="Calibri"/>
              </a:defRPr>
            </a:pPr>
            <a:r>
              <a:t>Why these choices</a:t>
            </a:r>
          </a:p>
        </p:txBody>
      </p:sp>
      <p:sp>
        <p:nvSpPr>
          <p:cNvPr id="18" name="TextBox 17"/>
          <p:cNvSpPr txBox="1"/>
          <p:nvPr/>
        </p:nvSpPr>
        <p:spPr>
          <a:xfrm>
            <a:off x="6400800" y="4023360"/>
            <a:ext cx="5486400" cy="2743200"/>
          </a:xfrm>
          <a:prstGeom prst="rect">
            <a:avLst/>
          </a:prstGeom>
          <a:noFill/>
        </p:spPr>
        <p:txBody>
          <a:bodyPr wrap="square">
            <a:spAutoFit/>
          </a:bodyPr>
          <a:lstStyle/>
          <a:p>
            <a:pPr>
              <a:lnSpc>
                <a:spcPct val="125000"/>
              </a:lnSpc>
              <a:spcBef>
                <a:spcPts val="0"/>
              </a:spcBef>
              <a:spcAft>
                <a:spcPts val="0"/>
              </a:spcAft>
              <a:defRPr sz="1600" b="0" i="0">
                <a:latin typeface="Calibri"/>
              </a:defRPr>
            </a:pPr>
            <a:r>
              <a:t>•   pos_weight=25 calibrated to the 1:75 positive:negative ratio</a:t>
            </a:r>
          </a:p>
          <a:p>
            <a:pPr>
              <a:lnSpc>
                <a:spcPct val="125000"/>
              </a:lnSpc>
              <a:spcBef>
                <a:spcPts val="400"/>
              </a:spcBef>
              <a:spcAft>
                <a:spcPts val="0"/>
              </a:spcAft>
              <a:defRPr sz="1600" b="0" i="0">
                <a:latin typeface="Calibri"/>
              </a:defRPr>
            </a:pPr>
            <a:r>
              <a:t>•   lr 5e-4 with plateau decay, empirically stable across both models</a:t>
            </a:r>
          </a:p>
          <a:p>
            <a:pPr>
              <a:lnSpc>
                <a:spcPct val="125000"/>
              </a:lnSpc>
              <a:spcBef>
                <a:spcPts val="400"/>
              </a:spcBef>
              <a:spcAft>
                <a:spcPts val="0"/>
              </a:spcAft>
              <a:defRPr sz="1600" b="0" i="0">
                <a:latin typeface="Calibri"/>
              </a:defRPr>
            </a:pPr>
            <a:r>
              <a:t>•   Per-epoch window count fits one GPU hour, allows early stopping</a:t>
            </a:r>
          </a:p>
          <a:p>
            <a:pPr>
              <a:lnSpc>
                <a:spcPct val="125000"/>
              </a:lnSpc>
              <a:spcBef>
                <a:spcPts val="400"/>
              </a:spcBef>
              <a:spcAft>
                <a:spcPts val="0"/>
              </a:spcAft>
              <a:defRPr sz="1600" b="0" i="0">
                <a:latin typeface="Calibri"/>
              </a:defRPr>
            </a:pPr>
            <a:r>
              <a:t>•   Pretrained converged ~5x faster than from-scratch</a:t>
            </a:r>
          </a:p>
        </p:txBody>
      </p:sp>
      <p:sp>
        <p:nvSpPr>
          <p:cNvPr id="19" name="Rounded Rectangle 18">
            <a:extLst>
              <a:ext uri="{FF2B5EF4-FFF2-40B4-BE49-F238E27FC236}">
                <a16:creationId xmlns:a16="http://schemas.microsoft.com/office/drawing/2014/main" id="{CA9796AD-AED3-F5B6-F64A-B3D3934657C4}"/>
              </a:ext>
            </a:extLst>
          </p:cNvPr>
          <p:cNvSpPr/>
          <p:nvPr/>
        </p:nvSpPr>
        <p:spPr>
          <a:xfrm>
            <a:off x="8808720" y="2670983"/>
            <a:ext cx="3383280" cy="724662"/>
          </a:xfrm>
          <a:prstGeom prst="roundRect">
            <a:avLst>
              <a:gd name="adj" fmla="val 50000"/>
            </a:avLst>
          </a:prstGeom>
        </p:spPr>
        <p:style>
          <a:lnRef idx="1">
            <a:schemeClr val="accent5"/>
          </a:lnRef>
          <a:fillRef idx="2">
            <a:schemeClr val="accent5"/>
          </a:fillRef>
          <a:effectRef idx="1">
            <a:schemeClr val="accent5"/>
          </a:effectRef>
          <a:fontRef idx="minor">
            <a:schemeClr val="dk1"/>
          </a:fontRef>
        </p:style>
        <p:txBody>
          <a:bodyPr rtlCol="0" anchor="ctr"/>
          <a:lstStyle/>
          <a:p>
            <a:pPr marL="0" marR="0" lvl="0" indent="0" algn="ctr" defTabSz="457200" rtl="0" eaLnBrk="1" fontAlgn="auto" latinLnBrk="0" hangingPunct="1">
              <a:lnSpc>
                <a:spcPct val="120000"/>
              </a:lnSpc>
              <a:spcBef>
                <a:spcPts val="0"/>
              </a:spcBef>
              <a:spcAft>
                <a:spcPts val="0"/>
              </a:spcAft>
              <a:buClrTx/>
              <a:buSzTx/>
              <a:buFontTx/>
              <a:buNone/>
              <a:tabLst/>
              <a:defRPr sz="1600" b="0" i="0">
                <a:latin typeface="Calibri"/>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Output head is replaced with a binary classification layer producing per-base enhancer probabilities.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11274552" cy="777240"/>
          </a:xfrm>
          <a:prstGeom prst="rect">
            <a:avLst/>
          </a:prstGeom>
          <a:noFill/>
        </p:spPr>
        <p:txBody>
          <a:bodyPr wrap="none" lIns="0" tIns="0" rIns="0" bIns="0">
            <a:spAutoFit/>
          </a:bodyPr>
          <a:lstStyle/>
          <a:p>
            <a:pPr>
              <a:lnSpc>
                <a:spcPct val="110000"/>
              </a:lnSpc>
              <a:spcBef>
                <a:spcPts val="0"/>
              </a:spcBef>
              <a:spcAft>
                <a:spcPts val="0"/>
              </a:spcAft>
              <a:defRPr sz="4000" b="1" i="0">
                <a:latin typeface="Calibri"/>
              </a:defRPr>
            </a:pPr>
            <a:r>
              <a:t>Evaluation Metrics</a:t>
            </a:r>
          </a:p>
        </p:txBody>
      </p:sp>
      <p:sp>
        <p:nvSpPr>
          <p:cNvPr id="3" name="TextBox 2"/>
          <p:cNvSpPr txBox="1"/>
          <p:nvPr/>
        </p:nvSpPr>
        <p:spPr>
          <a:xfrm>
            <a:off x="548640" y="1188720"/>
            <a:ext cx="11155680" cy="3271152"/>
          </a:xfrm>
          <a:prstGeom prst="rect">
            <a:avLst/>
          </a:prstGeom>
          <a:noFill/>
        </p:spPr>
        <p:txBody>
          <a:bodyPr wrap="square">
            <a:spAutoFit/>
          </a:bodyPr>
          <a:lstStyle/>
          <a:p>
            <a:pPr>
              <a:lnSpc>
                <a:spcPct val="130000"/>
              </a:lnSpc>
              <a:spcBef>
                <a:spcPts val="0"/>
              </a:spcBef>
              <a:spcAft>
                <a:spcPts val="0"/>
              </a:spcAft>
              <a:defRPr sz="2000" b="0" i="0">
                <a:latin typeface="Calibri"/>
              </a:defRPr>
            </a:pPr>
            <a:r>
              <a:rPr dirty="0"/>
              <a:t>•   Per-base AUROC: ranks enhancer bases vs non-enhancer bases. Weakness: easy to inflate on</a:t>
            </a:r>
            <a:br>
              <a:rPr lang="en-US" dirty="0"/>
            </a:br>
            <a:r>
              <a:rPr lang="en-US" dirty="0"/>
              <a:t>     </a:t>
            </a:r>
            <a:r>
              <a:rPr dirty="0"/>
              <a:t>imbalanced data</a:t>
            </a:r>
          </a:p>
          <a:p>
            <a:pPr>
              <a:lnSpc>
                <a:spcPct val="130000"/>
              </a:lnSpc>
              <a:spcBef>
                <a:spcPts val="800"/>
              </a:spcBef>
              <a:spcAft>
                <a:spcPts val="0"/>
              </a:spcAft>
              <a:defRPr sz="2000" b="0" i="0">
                <a:latin typeface="Calibri"/>
              </a:defRPr>
            </a:pPr>
            <a:r>
              <a:rPr dirty="0"/>
              <a:t>•   Per-base AUPRC: tracks precision-recall tradeoff. More honest given 1.3% positive rate</a:t>
            </a:r>
          </a:p>
          <a:p>
            <a:pPr>
              <a:lnSpc>
                <a:spcPct val="130000"/>
              </a:lnSpc>
              <a:spcBef>
                <a:spcPts val="800"/>
              </a:spcBef>
              <a:spcAft>
                <a:spcPts val="0"/>
              </a:spcAft>
              <a:defRPr sz="2000" b="0" i="0">
                <a:latin typeface="Calibri"/>
              </a:defRPr>
            </a:pPr>
            <a:r>
              <a:rPr dirty="0"/>
              <a:t>•   Threshold sweep: precision and recall at thresholds 0.1, 0.3, 0.5, 0.7, 0.9</a:t>
            </a:r>
          </a:p>
          <a:p>
            <a:pPr>
              <a:lnSpc>
                <a:spcPct val="130000"/>
              </a:lnSpc>
              <a:spcBef>
                <a:spcPts val="800"/>
              </a:spcBef>
              <a:spcAft>
                <a:spcPts val="0"/>
              </a:spcAft>
              <a:defRPr sz="2000" b="0" i="0">
                <a:latin typeface="Calibri"/>
              </a:defRPr>
            </a:pPr>
            <a:r>
              <a:rPr dirty="0"/>
              <a:t>•   Stratified AUROC: separately for </a:t>
            </a:r>
            <a:r>
              <a:rPr dirty="0" err="1"/>
              <a:t>pELS</a:t>
            </a:r>
            <a:r>
              <a:rPr dirty="0"/>
              <a:t> and </a:t>
            </a:r>
            <a:r>
              <a:rPr dirty="0" err="1"/>
              <a:t>dELS</a:t>
            </a:r>
            <a:r>
              <a:rPr dirty="0"/>
              <a:t> positions</a:t>
            </a:r>
          </a:p>
          <a:p>
            <a:pPr>
              <a:lnSpc>
                <a:spcPct val="130000"/>
              </a:lnSpc>
              <a:spcBef>
                <a:spcPts val="800"/>
              </a:spcBef>
              <a:spcAft>
                <a:spcPts val="0"/>
              </a:spcAft>
              <a:defRPr sz="2000" b="0" i="0">
                <a:latin typeface="Calibri"/>
              </a:defRPr>
            </a:pPr>
            <a:r>
              <a:rPr dirty="0"/>
              <a:t>•   Peak-level recall: how many real enhancer regions did the model find. Two matching rules (any overlap</a:t>
            </a:r>
            <a:br>
              <a:rPr lang="en-US" dirty="0"/>
            </a:br>
            <a:r>
              <a:rPr lang="en-US" dirty="0"/>
              <a:t>     </a:t>
            </a:r>
            <a:r>
              <a:rPr dirty="0"/>
              <a:t>and reciprocal-50)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11274552" cy="777240"/>
          </a:xfrm>
          <a:prstGeom prst="rect">
            <a:avLst/>
          </a:prstGeom>
          <a:noFill/>
        </p:spPr>
        <p:txBody>
          <a:bodyPr wrap="none" lIns="0" tIns="0" rIns="0" bIns="0">
            <a:spAutoFit/>
          </a:bodyPr>
          <a:lstStyle/>
          <a:p>
            <a:pPr>
              <a:lnSpc>
                <a:spcPct val="110000"/>
              </a:lnSpc>
              <a:spcBef>
                <a:spcPts val="0"/>
              </a:spcBef>
              <a:spcAft>
                <a:spcPts val="0"/>
              </a:spcAft>
              <a:defRPr sz="4000" b="1" i="0">
                <a:latin typeface="Calibri"/>
              </a:defRPr>
            </a:pPr>
            <a:r>
              <a:t>Training Dynamics</a:t>
            </a:r>
          </a:p>
        </p:txBody>
      </p:sp>
      <p:pic>
        <p:nvPicPr>
          <p:cNvPr id="3" name="Picture 2" descr="loss_curves.png"/>
          <p:cNvPicPr>
            <a:picLocks noChangeAspect="1"/>
          </p:cNvPicPr>
          <p:nvPr/>
        </p:nvPicPr>
        <p:blipFill>
          <a:blip r:embed="rId3"/>
          <a:stretch>
            <a:fillRect/>
          </a:stretch>
        </p:blipFill>
        <p:spPr>
          <a:xfrm>
            <a:off x="3981580" y="1325880"/>
            <a:ext cx="8008365" cy="3135058"/>
          </a:xfrm>
          <a:prstGeom prst="rect">
            <a:avLst/>
          </a:prstGeom>
        </p:spPr>
      </p:pic>
      <p:sp>
        <p:nvSpPr>
          <p:cNvPr id="4" name="TextBox 3"/>
          <p:cNvSpPr txBox="1"/>
          <p:nvPr/>
        </p:nvSpPr>
        <p:spPr>
          <a:xfrm>
            <a:off x="457200" y="1325880"/>
            <a:ext cx="3749039" cy="457200"/>
          </a:xfrm>
          <a:prstGeom prst="rect">
            <a:avLst/>
          </a:prstGeom>
          <a:noFill/>
        </p:spPr>
        <p:txBody>
          <a:bodyPr wrap="square">
            <a:spAutoFit/>
          </a:bodyPr>
          <a:lstStyle/>
          <a:p>
            <a:pPr>
              <a:lnSpc>
                <a:spcPct val="110000"/>
              </a:lnSpc>
              <a:spcBef>
                <a:spcPts val="0"/>
              </a:spcBef>
              <a:spcAft>
                <a:spcPts val="0"/>
              </a:spcAft>
              <a:defRPr sz="2200" b="1" i="0">
                <a:latin typeface="Calibri"/>
              </a:defRPr>
            </a:pPr>
            <a:r>
              <a:rPr dirty="0"/>
              <a:t>Axes</a:t>
            </a:r>
          </a:p>
        </p:txBody>
      </p:sp>
      <p:sp>
        <p:nvSpPr>
          <p:cNvPr id="5" name="TextBox 4"/>
          <p:cNvSpPr txBox="1"/>
          <p:nvPr/>
        </p:nvSpPr>
        <p:spPr>
          <a:xfrm>
            <a:off x="457199" y="1955102"/>
            <a:ext cx="3749039" cy="2743200"/>
          </a:xfrm>
          <a:prstGeom prst="rect">
            <a:avLst/>
          </a:prstGeom>
          <a:noFill/>
        </p:spPr>
        <p:txBody>
          <a:bodyPr wrap="square">
            <a:spAutoFit/>
          </a:bodyPr>
          <a:lstStyle/>
          <a:p>
            <a:pPr>
              <a:lnSpc>
                <a:spcPct val="120000"/>
              </a:lnSpc>
              <a:spcBef>
                <a:spcPts val="0"/>
              </a:spcBef>
              <a:spcAft>
                <a:spcPts val="0"/>
              </a:spcAft>
              <a:defRPr sz="1600" b="0" i="0">
                <a:latin typeface="Calibri"/>
              </a:defRPr>
            </a:pPr>
            <a:r>
              <a:rPr dirty="0"/>
              <a:t>•   Left: training loss vs epoch (lower = better)</a:t>
            </a:r>
          </a:p>
          <a:p>
            <a:pPr>
              <a:lnSpc>
                <a:spcPct val="120000"/>
              </a:lnSpc>
              <a:spcBef>
                <a:spcPts val="400"/>
              </a:spcBef>
              <a:spcAft>
                <a:spcPts val="0"/>
              </a:spcAft>
              <a:defRPr sz="1600" b="0" i="0">
                <a:latin typeface="Calibri"/>
              </a:defRPr>
            </a:pPr>
            <a:r>
              <a:rPr dirty="0"/>
              <a:t>•   Right: validation AUROC vs epoch (higher = better)</a:t>
            </a:r>
          </a:p>
          <a:p>
            <a:pPr>
              <a:lnSpc>
                <a:spcPct val="120000"/>
              </a:lnSpc>
              <a:spcBef>
                <a:spcPts val="400"/>
              </a:spcBef>
              <a:spcAft>
                <a:spcPts val="0"/>
              </a:spcAft>
              <a:defRPr sz="1600" b="0" i="0">
                <a:latin typeface="Calibri"/>
              </a:defRPr>
            </a:pPr>
            <a:r>
              <a:rPr dirty="0"/>
              <a:t>•   Pretrained converges ~5x faster than from-scratch</a:t>
            </a:r>
          </a:p>
        </p:txBody>
      </p:sp>
      <p:sp>
        <p:nvSpPr>
          <p:cNvPr id="6" name="TextBox 5"/>
          <p:cNvSpPr txBox="1"/>
          <p:nvPr/>
        </p:nvSpPr>
        <p:spPr>
          <a:xfrm>
            <a:off x="484632" y="5202382"/>
            <a:ext cx="11247120" cy="1371600"/>
          </a:xfrm>
          <a:prstGeom prst="rect">
            <a:avLst/>
          </a:prstGeom>
          <a:noFill/>
        </p:spPr>
        <p:txBody>
          <a:bodyPr wrap="square">
            <a:spAutoFit/>
          </a:bodyPr>
          <a:lstStyle/>
          <a:p>
            <a:pPr algn="l">
              <a:lnSpc>
                <a:spcPct val="130000"/>
              </a:lnSpc>
              <a:spcBef>
                <a:spcPts val="0"/>
              </a:spcBef>
              <a:spcAft>
                <a:spcPts val="0"/>
              </a:spcAft>
            </a:pPr>
            <a:r>
              <a:rPr sz="2200" b="1">
                <a:latin typeface="Calibri"/>
              </a:rPr>
              <a:t>Takeaway: </a:t>
            </a:r>
            <a:r>
              <a:rPr sz="2200" b="0">
                <a:latin typeface="Calibri"/>
              </a:rPr>
              <a:t>pretraining gives both a substantial speedup and a clearly lower training loss from epoch 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11274552" cy="777240"/>
          </a:xfrm>
          <a:prstGeom prst="rect">
            <a:avLst/>
          </a:prstGeom>
          <a:noFill/>
        </p:spPr>
        <p:txBody>
          <a:bodyPr wrap="none" lIns="0" tIns="0" rIns="0" bIns="0">
            <a:spAutoFit/>
          </a:bodyPr>
          <a:lstStyle/>
          <a:p>
            <a:pPr>
              <a:lnSpc>
                <a:spcPct val="110000"/>
              </a:lnSpc>
              <a:spcBef>
                <a:spcPts val="0"/>
              </a:spcBef>
              <a:spcAft>
                <a:spcPts val="0"/>
              </a:spcAft>
              <a:defRPr sz="4000" b="1" i="0">
                <a:latin typeface="Calibri"/>
              </a:defRPr>
            </a:pPr>
            <a:r>
              <a:t>Test Set Performance</a:t>
            </a:r>
          </a:p>
        </p:txBody>
      </p:sp>
      <p:graphicFrame>
        <p:nvGraphicFramePr>
          <p:cNvPr id="3" name="Table 2"/>
          <p:cNvGraphicFramePr>
            <a:graphicFrameLocks noGrp="1"/>
          </p:cNvGraphicFramePr>
          <p:nvPr/>
        </p:nvGraphicFramePr>
        <p:xfrm>
          <a:off x="1828800" y="1005840"/>
          <a:ext cx="8503920" cy="1859280"/>
        </p:xfrm>
        <a:graphic>
          <a:graphicData uri="http://schemas.openxmlformats.org/drawingml/2006/table">
            <a:tbl>
              <a:tblPr firstRow="1" bandRow="1">
                <a:tableStyleId>{5C22544A-7EE6-4342-B048-85BDC9FD1C3A}</a:tableStyleId>
              </a:tblPr>
              <a:tblGrid>
                <a:gridCol w="402336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tblGrid>
              <a:tr h="365760">
                <a:tc>
                  <a:txBody>
                    <a:bodyPr/>
                    <a:lstStyle/>
                    <a:p>
                      <a:pPr algn="l"/>
                      <a:r>
                        <a:rPr sz="2000" b="1">
                          <a:latin typeface="Calibri"/>
                        </a:rPr>
                        <a:t>Metric</a:t>
                      </a:r>
                    </a:p>
                  </a:txBody>
                  <a:tcPr/>
                </a:tc>
                <a:tc>
                  <a:txBody>
                    <a:bodyPr/>
                    <a:lstStyle/>
                    <a:p>
                      <a:pPr algn="ctr"/>
                      <a:r>
                        <a:rPr sz="2000" b="1">
                          <a:latin typeface="Calibri"/>
                        </a:rPr>
                        <a:t>From-scratch</a:t>
                      </a:r>
                    </a:p>
                  </a:txBody>
                  <a:tcPr/>
                </a:tc>
                <a:tc>
                  <a:txBody>
                    <a:bodyPr/>
                    <a:lstStyle/>
                    <a:p>
                      <a:pPr algn="ctr"/>
                      <a:r>
                        <a:rPr sz="2000" b="1">
                          <a:latin typeface="Calibri"/>
                        </a:rPr>
                        <a:t>Pretrained</a:t>
                      </a:r>
                    </a:p>
                  </a:txBody>
                  <a:tcPr/>
                </a:tc>
                <a:extLst>
                  <a:ext uri="{0D108BD9-81ED-4DB2-BD59-A6C34878D82A}">
                    <a16:rowId xmlns:a16="http://schemas.microsoft.com/office/drawing/2014/main" val="10000"/>
                  </a:ext>
                </a:extLst>
              </a:tr>
              <a:tr h="365760">
                <a:tc>
                  <a:txBody>
                    <a:bodyPr/>
                    <a:lstStyle/>
                    <a:p>
                      <a:pPr algn="l"/>
                      <a:r>
                        <a:rPr sz="1800" b="0">
                          <a:latin typeface="Calibri"/>
                        </a:rPr>
                        <a:t>Per-base AUROC</a:t>
                      </a:r>
                    </a:p>
                  </a:txBody>
                  <a:tcPr/>
                </a:tc>
                <a:tc>
                  <a:txBody>
                    <a:bodyPr/>
                    <a:lstStyle/>
                    <a:p>
                      <a:pPr algn="ctr"/>
                      <a:r>
                        <a:rPr sz="1800" b="0">
                          <a:latin typeface="Calibri"/>
                        </a:rPr>
                        <a:t>0.879</a:t>
                      </a:r>
                    </a:p>
                  </a:txBody>
                  <a:tcPr/>
                </a:tc>
                <a:tc>
                  <a:txBody>
                    <a:bodyPr/>
                    <a:lstStyle/>
                    <a:p>
                      <a:pPr algn="ctr"/>
                      <a:r>
                        <a:rPr sz="1800" b="0">
                          <a:latin typeface="Calibri"/>
                        </a:rPr>
                        <a:t>0.923</a:t>
                      </a:r>
                    </a:p>
                  </a:txBody>
                  <a:tcPr/>
                </a:tc>
                <a:extLst>
                  <a:ext uri="{0D108BD9-81ED-4DB2-BD59-A6C34878D82A}">
                    <a16:rowId xmlns:a16="http://schemas.microsoft.com/office/drawing/2014/main" val="10001"/>
                  </a:ext>
                </a:extLst>
              </a:tr>
              <a:tr h="365760">
                <a:tc>
                  <a:txBody>
                    <a:bodyPr/>
                    <a:lstStyle/>
                    <a:p>
                      <a:pPr algn="l"/>
                      <a:r>
                        <a:rPr sz="1800" b="0">
                          <a:latin typeface="Calibri"/>
                        </a:rPr>
                        <a:t>Per-base AUPRC</a:t>
                      </a:r>
                    </a:p>
                  </a:txBody>
                  <a:tcPr/>
                </a:tc>
                <a:tc>
                  <a:txBody>
                    <a:bodyPr/>
                    <a:lstStyle/>
                    <a:p>
                      <a:pPr algn="ctr"/>
                      <a:r>
                        <a:rPr sz="1800" b="0">
                          <a:latin typeface="Calibri"/>
                        </a:rPr>
                        <a:t>0.168</a:t>
                      </a:r>
                    </a:p>
                  </a:txBody>
                  <a:tcPr/>
                </a:tc>
                <a:tc>
                  <a:txBody>
                    <a:bodyPr/>
                    <a:lstStyle/>
                    <a:p>
                      <a:pPr algn="ctr"/>
                      <a:r>
                        <a:rPr sz="1800" b="0">
                          <a:latin typeface="Calibri"/>
                        </a:rPr>
                        <a:t>0.269</a:t>
                      </a:r>
                    </a:p>
                  </a:txBody>
                  <a:tcPr/>
                </a:tc>
                <a:extLst>
                  <a:ext uri="{0D108BD9-81ED-4DB2-BD59-A6C34878D82A}">
                    <a16:rowId xmlns:a16="http://schemas.microsoft.com/office/drawing/2014/main" val="10002"/>
                  </a:ext>
                </a:extLst>
              </a:tr>
              <a:tr h="365760">
                <a:tc>
                  <a:txBody>
                    <a:bodyPr/>
                    <a:lstStyle/>
                    <a:p>
                      <a:pPr algn="l"/>
                      <a:r>
                        <a:rPr sz="1800" b="0">
                          <a:latin typeface="Calibri"/>
                        </a:rPr>
                        <a:t>Precision @ threshold 0.5</a:t>
                      </a:r>
                    </a:p>
                  </a:txBody>
                  <a:tcPr/>
                </a:tc>
                <a:tc>
                  <a:txBody>
                    <a:bodyPr/>
                    <a:lstStyle/>
                    <a:p>
                      <a:pPr algn="ctr"/>
                      <a:r>
                        <a:rPr sz="1800" b="0">
                          <a:latin typeface="Calibri"/>
                        </a:rPr>
                        <a:t>0.123</a:t>
                      </a:r>
                    </a:p>
                  </a:txBody>
                  <a:tcPr/>
                </a:tc>
                <a:tc>
                  <a:txBody>
                    <a:bodyPr/>
                    <a:lstStyle/>
                    <a:p>
                      <a:pPr algn="ctr"/>
                      <a:r>
                        <a:rPr sz="1800" b="0">
                          <a:latin typeface="Calibri"/>
                        </a:rPr>
                        <a:t>0.184</a:t>
                      </a:r>
                    </a:p>
                  </a:txBody>
                  <a:tcPr/>
                </a:tc>
                <a:extLst>
                  <a:ext uri="{0D108BD9-81ED-4DB2-BD59-A6C34878D82A}">
                    <a16:rowId xmlns:a16="http://schemas.microsoft.com/office/drawing/2014/main" val="10003"/>
                  </a:ext>
                </a:extLst>
              </a:tr>
              <a:tr h="365760">
                <a:tc>
                  <a:txBody>
                    <a:bodyPr/>
                    <a:lstStyle/>
                    <a:p>
                      <a:pPr algn="l"/>
                      <a:r>
                        <a:rPr sz="1800" b="0">
                          <a:latin typeface="Calibri"/>
                        </a:rPr>
                        <a:t>Recall @ threshold 0.5</a:t>
                      </a:r>
                    </a:p>
                  </a:txBody>
                  <a:tcPr/>
                </a:tc>
                <a:tc>
                  <a:txBody>
                    <a:bodyPr/>
                    <a:lstStyle/>
                    <a:p>
                      <a:pPr algn="ctr"/>
                      <a:r>
                        <a:rPr sz="1800" b="0">
                          <a:latin typeface="Calibri"/>
                        </a:rPr>
                        <a:t>0.479</a:t>
                      </a:r>
                    </a:p>
                  </a:txBody>
                  <a:tcPr/>
                </a:tc>
                <a:tc>
                  <a:txBody>
                    <a:bodyPr/>
                    <a:lstStyle/>
                    <a:p>
                      <a:pPr algn="ctr"/>
                      <a:r>
                        <a:rPr sz="1800" b="0">
                          <a:latin typeface="Calibri"/>
                        </a:rPr>
                        <a:t>0.558</a:t>
                      </a:r>
                    </a:p>
                  </a:txBody>
                  <a:tcPr/>
                </a:tc>
                <a:extLst>
                  <a:ext uri="{0D108BD9-81ED-4DB2-BD59-A6C34878D82A}">
                    <a16:rowId xmlns:a16="http://schemas.microsoft.com/office/drawing/2014/main" val="10004"/>
                  </a:ext>
                </a:extLst>
              </a:tr>
            </a:tbl>
          </a:graphicData>
        </a:graphic>
      </p:graphicFrame>
      <p:sp>
        <p:nvSpPr>
          <p:cNvPr id="4" name="TextBox 3"/>
          <p:cNvSpPr txBox="1"/>
          <p:nvPr/>
        </p:nvSpPr>
        <p:spPr>
          <a:xfrm>
            <a:off x="457200" y="3017520"/>
            <a:ext cx="11247120" cy="2968633"/>
          </a:xfrm>
          <a:prstGeom prst="rect">
            <a:avLst/>
          </a:prstGeom>
          <a:noFill/>
        </p:spPr>
        <p:txBody>
          <a:bodyPr wrap="square">
            <a:spAutoFit/>
          </a:bodyPr>
          <a:lstStyle/>
          <a:p>
            <a:pPr>
              <a:lnSpc>
                <a:spcPct val="130000"/>
              </a:lnSpc>
              <a:spcBef>
                <a:spcPts val="0"/>
              </a:spcBef>
              <a:spcAft>
                <a:spcPts val="0"/>
              </a:spcAft>
              <a:defRPr sz="1800" b="0" i="0">
                <a:latin typeface="Calibri"/>
              </a:defRPr>
            </a:pPr>
            <a:r>
              <a:rPr dirty="0"/>
              <a:t>•   AUPRC chance baseline: 0.013 (the chr10 positive rate)</a:t>
            </a:r>
          </a:p>
          <a:p>
            <a:pPr>
              <a:lnSpc>
                <a:spcPct val="130000"/>
              </a:lnSpc>
              <a:spcBef>
                <a:spcPts val="600"/>
              </a:spcBef>
              <a:spcAft>
                <a:spcPts val="0"/>
              </a:spcAft>
              <a:defRPr sz="1800" b="0" i="0">
                <a:latin typeface="Calibri"/>
              </a:defRPr>
            </a:pPr>
            <a:r>
              <a:rPr dirty="0"/>
              <a:t>•   Pretrained reaches 21x above chance; from-scratch reaches 13x</a:t>
            </a:r>
          </a:p>
          <a:p>
            <a:pPr>
              <a:lnSpc>
                <a:spcPct val="130000"/>
              </a:lnSpc>
              <a:spcBef>
                <a:spcPts val="600"/>
              </a:spcBef>
              <a:spcAft>
                <a:spcPts val="0"/>
              </a:spcAft>
              <a:defRPr sz="1800" b="0" i="0">
                <a:latin typeface="Calibri"/>
              </a:defRPr>
            </a:pPr>
            <a:r>
              <a:rPr dirty="0"/>
              <a:t>•   Relative AUPRC improvement from pretraining: ~60%</a:t>
            </a:r>
          </a:p>
          <a:p>
            <a:pPr>
              <a:lnSpc>
                <a:spcPct val="130000"/>
              </a:lnSpc>
              <a:spcBef>
                <a:spcPts val="600"/>
              </a:spcBef>
              <a:spcAft>
                <a:spcPts val="0"/>
              </a:spcAft>
              <a:defRPr sz="1800" b="0" i="0">
                <a:latin typeface="Calibri"/>
              </a:defRPr>
            </a:pPr>
            <a:r>
              <a:rPr dirty="0"/>
              <a:t>•   AUROC gain (+0.044) translates to substantial discrimination improvement on this imbalanced task</a:t>
            </a:r>
          </a:p>
          <a:p>
            <a:pPr>
              <a:lnSpc>
                <a:spcPct val="130000"/>
              </a:lnSpc>
              <a:spcBef>
                <a:spcPts val="600"/>
              </a:spcBef>
              <a:spcAft>
                <a:spcPts val="0"/>
              </a:spcAft>
              <a:defRPr sz="1800" b="0" i="0">
                <a:latin typeface="Calibri"/>
              </a:defRPr>
            </a:pPr>
            <a:r>
              <a:rPr dirty="0"/>
              <a:t>•   Precision at threshold 0.5 means: when the model says "enhancer," it is right ~18% of the time (vs 1.3% by random</a:t>
            </a:r>
            <a:br>
              <a:rPr lang="en-US" dirty="0"/>
            </a:br>
            <a:r>
              <a:rPr lang="en-US" dirty="0"/>
              <a:t>     </a:t>
            </a:r>
            <a:r>
              <a:rPr dirty="0"/>
              <a:t>guessing)</a:t>
            </a:r>
          </a:p>
          <a:p>
            <a:pPr>
              <a:lnSpc>
                <a:spcPct val="130000"/>
              </a:lnSpc>
              <a:spcBef>
                <a:spcPts val="600"/>
              </a:spcBef>
              <a:spcAft>
                <a:spcPts val="0"/>
              </a:spcAft>
              <a:defRPr sz="1800" b="0" i="0">
                <a:latin typeface="Calibri"/>
              </a:defRPr>
            </a:pPr>
            <a:r>
              <a:rPr dirty="0"/>
              <a:t>•   Recall at threshold 0.5 means: the model finds ~56% of all enhancer bases at that threshold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11274552" cy="777240"/>
          </a:xfrm>
          <a:prstGeom prst="rect">
            <a:avLst/>
          </a:prstGeom>
          <a:noFill/>
        </p:spPr>
        <p:txBody>
          <a:bodyPr wrap="none" lIns="0" tIns="0" rIns="0" bIns="0">
            <a:spAutoFit/>
          </a:bodyPr>
          <a:lstStyle/>
          <a:p>
            <a:pPr>
              <a:lnSpc>
                <a:spcPct val="110000"/>
              </a:lnSpc>
              <a:spcBef>
                <a:spcPts val="0"/>
              </a:spcBef>
              <a:spcAft>
                <a:spcPts val="0"/>
              </a:spcAft>
              <a:defRPr sz="4000" b="1" i="0">
                <a:latin typeface="Calibri"/>
              </a:defRPr>
            </a:pPr>
            <a:r>
              <a:t>Stratified &amp; Threshold Analysis</a:t>
            </a:r>
          </a:p>
        </p:txBody>
      </p:sp>
      <p:pic>
        <p:nvPicPr>
          <p:cNvPr id="3" name="Picture 2" descr="chr10_stratified_auroc.png"/>
          <p:cNvPicPr>
            <a:picLocks noChangeAspect="1"/>
          </p:cNvPicPr>
          <p:nvPr/>
        </p:nvPicPr>
        <p:blipFill>
          <a:blip r:embed="rId3"/>
          <a:stretch>
            <a:fillRect/>
          </a:stretch>
        </p:blipFill>
        <p:spPr>
          <a:xfrm>
            <a:off x="502920" y="1051560"/>
            <a:ext cx="3456432" cy="2468880"/>
          </a:xfrm>
          <a:prstGeom prst="rect">
            <a:avLst/>
          </a:prstGeom>
        </p:spPr>
      </p:pic>
      <p:pic>
        <p:nvPicPr>
          <p:cNvPr id="4" name="Picture 3" descr="threshold_sweep.png"/>
          <p:cNvPicPr>
            <a:picLocks noChangeAspect="1"/>
          </p:cNvPicPr>
          <p:nvPr/>
        </p:nvPicPr>
        <p:blipFill>
          <a:blip r:embed="rId4"/>
          <a:stretch>
            <a:fillRect/>
          </a:stretch>
        </p:blipFill>
        <p:spPr>
          <a:xfrm>
            <a:off x="4370832" y="1051560"/>
            <a:ext cx="6295644" cy="2464574"/>
          </a:xfrm>
          <a:prstGeom prst="rect">
            <a:avLst/>
          </a:prstGeom>
        </p:spPr>
      </p:pic>
      <p:sp>
        <p:nvSpPr>
          <p:cNvPr id="5" name="TextBox 4"/>
          <p:cNvSpPr txBox="1"/>
          <p:nvPr/>
        </p:nvSpPr>
        <p:spPr>
          <a:xfrm>
            <a:off x="502919" y="3566160"/>
            <a:ext cx="3598025" cy="520784"/>
          </a:xfrm>
          <a:prstGeom prst="rect">
            <a:avLst/>
          </a:prstGeom>
          <a:noFill/>
        </p:spPr>
        <p:txBody>
          <a:bodyPr wrap="square">
            <a:spAutoFit/>
          </a:bodyPr>
          <a:lstStyle/>
          <a:p>
            <a:pPr>
              <a:lnSpc>
                <a:spcPct val="120000"/>
              </a:lnSpc>
              <a:spcBef>
                <a:spcPts val="0"/>
              </a:spcBef>
              <a:spcAft>
                <a:spcPts val="0"/>
              </a:spcAft>
              <a:defRPr sz="1200" b="0" i="1">
                <a:latin typeface="Calibri"/>
              </a:defRPr>
            </a:pPr>
            <a:r>
              <a:rPr dirty="0"/>
              <a:t>Axes: AUROC on y, enhancer subtype (</a:t>
            </a:r>
            <a:r>
              <a:rPr dirty="0" err="1"/>
              <a:t>pELS</a:t>
            </a:r>
            <a:r>
              <a:rPr dirty="0"/>
              <a:t> / </a:t>
            </a:r>
            <a:r>
              <a:rPr dirty="0" err="1"/>
              <a:t>dELS</a:t>
            </a:r>
            <a:r>
              <a:rPr dirty="0"/>
              <a:t>) on x.</a:t>
            </a:r>
          </a:p>
          <a:p>
            <a:pPr>
              <a:lnSpc>
                <a:spcPct val="120000"/>
              </a:lnSpc>
              <a:spcBef>
                <a:spcPts val="0"/>
              </a:spcBef>
              <a:spcAft>
                <a:spcPts val="0"/>
              </a:spcAft>
              <a:defRPr sz="1200" b="0" i="1">
                <a:latin typeface="Calibri"/>
              </a:defRPr>
            </a:pPr>
            <a:r>
              <a:rPr dirty="0"/>
              <a:t>Higher bars = better discrimination on that subtype.</a:t>
            </a:r>
          </a:p>
        </p:txBody>
      </p:sp>
      <p:sp>
        <p:nvSpPr>
          <p:cNvPr id="6" name="TextBox 5"/>
          <p:cNvSpPr txBox="1"/>
          <p:nvPr/>
        </p:nvSpPr>
        <p:spPr>
          <a:xfrm>
            <a:off x="4370832" y="3566160"/>
            <a:ext cx="6295644" cy="640080"/>
          </a:xfrm>
          <a:prstGeom prst="rect">
            <a:avLst/>
          </a:prstGeom>
          <a:noFill/>
        </p:spPr>
        <p:txBody>
          <a:bodyPr wrap="square">
            <a:spAutoFit/>
          </a:bodyPr>
          <a:lstStyle/>
          <a:p>
            <a:pPr>
              <a:lnSpc>
                <a:spcPct val="120000"/>
              </a:lnSpc>
              <a:spcBef>
                <a:spcPts val="0"/>
              </a:spcBef>
              <a:spcAft>
                <a:spcPts val="0"/>
              </a:spcAft>
              <a:defRPr sz="1200" b="0" i="1">
                <a:latin typeface="Calibri"/>
              </a:defRPr>
            </a:pPr>
            <a:r>
              <a:rPr dirty="0"/>
              <a:t>Axes: threshold on x, precision (left subplot) and recall (right subplot) on y.</a:t>
            </a:r>
          </a:p>
          <a:p>
            <a:pPr>
              <a:lnSpc>
                <a:spcPct val="120000"/>
              </a:lnSpc>
              <a:spcBef>
                <a:spcPts val="0"/>
              </a:spcBef>
              <a:spcAft>
                <a:spcPts val="0"/>
              </a:spcAft>
              <a:defRPr sz="1200" b="0" i="1">
                <a:latin typeface="Calibri"/>
              </a:defRPr>
            </a:pPr>
            <a:r>
              <a:rPr dirty="0"/>
              <a:t>Lines show how each metric changes as threshold sweeps from 0.1 to 0.9.</a:t>
            </a:r>
          </a:p>
        </p:txBody>
      </p:sp>
      <p:sp>
        <p:nvSpPr>
          <p:cNvPr id="7" name="TextBox 6"/>
          <p:cNvSpPr txBox="1"/>
          <p:nvPr/>
        </p:nvSpPr>
        <p:spPr>
          <a:xfrm>
            <a:off x="548640" y="4434840"/>
            <a:ext cx="11155680" cy="1554480"/>
          </a:xfrm>
          <a:prstGeom prst="rect">
            <a:avLst/>
          </a:prstGeom>
          <a:noFill/>
        </p:spPr>
        <p:txBody>
          <a:bodyPr wrap="square">
            <a:spAutoFit/>
          </a:bodyPr>
          <a:lstStyle/>
          <a:p>
            <a:pPr>
              <a:lnSpc>
                <a:spcPct val="125000"/>
              </a:lnSpc>
              <a:spcBef>
                <a:spcPts val="0"/>
              </a:spcBef>
              <a:spcAft>
                <a:spcPts val="0"/>
              </a:spcAft>
              <a:defRPr sz="1800" b="0" i="0">
                <a:latin typeface="Calibri"/>
              </a:defRPr>
            </a:pPr>
            <a:r>
              <a:rPr dirty="0"/>
              <a:t>•   Pretrained wins on both </a:t>
            </a:r>
            <a:r>
              <a:rPr dirty="0" err="1"/>
              <a:t>pELS</a:t>
            </a:r>
            <a:r>
              <a:rPr dirty="0"/>
              <a:t> (proximal) and </a:t>
            </a:r>
            <a:r>
              <a:rPr dirty="0" err="1"/>
              <a:t>dELS</a:t>
            </a:r>
            <a:r>
              <a:rPr dirty="0"/>
              <a:t> (distal)</a:t>
            </a:r>
          </a:p>
          <a:p>
            <a:pPr>
              <a:lnSpc>
                <a:spcPct val="125000"/>
              </a:lnSpc>
              <a:spcBef>
                <a:spcPts val="400"/>
              </a:spcBef>
              <a:spcAft>
                <a:spcPts val="0"/>
              </a:spcAft>
              <a:defRPr sz="1800" b="0" i="0">
                <a:latin typeface="Calibri"/>
              </a:defRPr>
            </a:pPr>
            <a:r>
              <a:rPr dirty="0"/>
              <a:t>•   Improvement is larger on harder </a:t>
            </a:r>
            <a:r>
              <a:rPr dirty="0" err="1"/>
              <a:t>dELS</a:t>
            </a:r>
            <a:r>
              <a:rPr dirty="0"/>
              <a:t> (+0.08 vs +0.06 on </a:t>
            </a:r>
            <a:r>
              <a:rPr dirty="0" err="1"/>
              <a:t>pELS</a:t>
            </a:r>
            <a:r>
              <a:rPr dirty="0"/>
              <a:t>)</a:t>
            </a:r>
          </a:p>
          <a:p>
            <a:pPr>
              <a:lnSpc>
                <a:spcPct val="125000"/>
              </a:lnSpc>
              <a:spcBef>
                <a:spcPts val="400"/>
              </a:spcBef>
              <a:spcAft>
                <a:spcPts val="0"/>
              </a:spcAft>
              <a:defRPr sz="1800" b="0" i="0">
                <a:latin typeface="Calibri"/>
              </a:defRPr>
            </a:pPr>
            <a:r>
              <a:rPr dirty="0"/>
              <a:t>•   Pretrained leads on precision below threshold 0.9 and on recall above 0.3</a:t>
            </a:r>
          </a:p>
        </p:txBody>
      </p:sp>
      <p:sp>
        <p:nvSpPr>
          <p:cNvPr id="8" name="TextBox 7"/>
          <p:cNvSpPr txBox="1"/>
          <p:nvPr/>
        </p:nvSpPr>
        <p:spPr>
          <a:xfrm>
            <a:off x="548640" y="5989320"/>
            <a:ext cx="11155680" cy="822960"/>
          </a:xfrm>
          <a:prstGeom prst="rect">
            <a:avLst/>
          </a:prstGeom>
          <a:noFill/>
        </p:spPr>
        <p:txBody>
          <a:bodyPr wrap="square">
            <a:spAutoFit/>
          </a:bodyPr>
          <a:lstStyle/>
          <a:p>
            <a:pPr algn="l">
              <a:lnSpc>
                <a:spcPct val="130000"/>
              </a:lnSpc>
              <a:spcBef>
                <a:spcPts val="0"/>
              </a:spcBef>
              <a:spcAft>
                <a:spcPts val="0"/>
              </a:spcAft>
            </a:pPr>
            <a:r>
              <a:rPr sz="1800" b="1">
                <a:latin typeface="Calibri"/>
              </a:rPr>
              <a:t>Takeaway: </a:t>
            </a:r>
            <a:r>
              <a:rPr sz="1800" b="0">
                <a:latin typeface="Calibri"/>
              </a:rPr>
              <a:t>improvement holds across both enhancer subtype and threshold, not specific to a single operating point.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11274552" cy="777240"/>
          </a:xfrm>
          <a:prstGeom prst="rect">
            <a:avLst/>
          </a:prstGeom>
          <a:noFill/>
        </p:spPr>
        <p:txBody>
          <a:bodyPr wrap="none" lIns="0" tIns="0" rIns="0" bIns="0">
            <a:spAutoFit/>
          </a:bodyPr>
          <a:lstStyle/>
          <a:p>
            <a:pPr>
              <a:lnSpc>
                <a:spcPct val="110000"/>
              </a:lnSpc>
              <a:spcBef>
                <a:spcPts val="0"/>
              </a:spcBef>
              <a:spcAft>
                <a:spcPts val="0"/>
              </a:spcAft>
              <a:defRPr sz="4000" b="1" i="0">
                <a:latin typeface="Calibri"/>
              </a:defRPr>
            </a:pPr>
            <a:r>
              <a:t>Model Interpretation</a:t>
            </a:r>
          </a:p>
        </p:txBody>
      </p:sp>
      <p:pic>
        <p:nvPicPr>
          <p:cNvPr id="3" name="Picture 2" descr="motif_matches_rescaled.png"/>
          <p:cNvPicPr>
            <a:picLocks noChangeAspect="1"/>
          </p:cNvPicPr>
          <p:nvPr/>
        </p:nvPicPr>
        <p:blipFill>
          <a:blip r:embed="rId3"/>
          <a:stretch>
            <a:fillRect/>
          </a:stretch>
        </p:blipFill>
        <p:spPr>
          <a:xfrm>
            <a:off x="274320" y="1005840"/>
            <a:ext cx="4572000" cy="4627733"/>
          </a:xfrm>
          <a:prstGeom prst="rect">
            <a:avLst/>
          </a:prstGeom>
        </p:spPr>
      </p:pic>
      <p:sp>
        <p:nvSpPr>
          <p:cNvPr id="4" name="TextBox 3"/>
          <p:cNvSpPr txBox="1"/>
          <p:nvPr/>
        </p:nvSpPr>
        <p:spPr>
          <a:xfrm>
            <a:off x="274320" y="5715000"/>
            <a:ext cx="4572000" cy="1005840"/>
          </a:xfrm>
          <a:prstGeom prst="rect">
            <a:avLst/>
          </a:prstGeom>
          <a:noFill/>
        </p:spPr>
        <p:txBody>
          <a:bodyPr wrap="square">
            <a:spAutoFit/>
          </a:bodyPr>
          <a:lstStyle/>
          <a:p>
            <a:pPr>
              <a:lnSpc>
                <a:spcPct val="120000"/>
              </a:lnSpc>
              <a:spcBef>
                <a:spcPts val="0"/>
              </a:spcBef>
              <a:spcAft>
                <a:spcPts val="0"/>
              </a:spcAft>
              <a:defRPr sz="1200" b="0" i="1">
                <a:latin typeface="Calibri"/>
              </a:defRPr>
            </a:pPr>
            <a:r>
              <a:t>Left column: cluster PWMs (y-axis 0 to 0.3 bits, zoomed).</a:t>
            </a:r>
          </a:p>
          <a:p>
            <a:pPr>
              <a:lnSpc>
                <a:spcPct val="120000"/>
              </a:lnSpc>
              <a:spcBef>
                <a:spcPts val="0"/>
              </a:spcBef>
              <a:spcAft>
                <a:spcPts val="0"/>
              </a:spcAft>
              <a:defRPr sz="1200" b="0" i="1">
                <a:latin typeface="Calibri"/>
              </a:defRPr>
            </a:pPr>
            <a:r>
              <a:t>Right column: matching JASPAR motifs (y-axis 0 to 2 bits, natural scale).</a:t>
            </a:r>
          </a:p>
          <a:p>
            <a:pPr>
              <a:lnSpc>
                <a:spcPct val="120000"/>
              </a:lnSpc>
              <a:spcBef>
                <a:spcPts val="0"/>
              </a:spcBef>
              <a:spcAft>
                <a:spcPts val="0"/>
              </a:spcAft>
              <a:defRPr sz="1200" b="0" i="1">
                <a:latin typeface="Calibri"/>
              </a:defRPr>
            </a:pPr>
            <a:r>
              <a:t>Dashed line in cluster panels marks 1.0 bits (typical TF motif strength).</a:t>
            </a:r>
          </a:p>
        </p:txBody>
      </p:sp>
      <p:sp>
        <p:nvSpPr>
          <p:cNvPr id="5" name="TextBox 4"/>
          <p:cNvSpPr txBox="1"/>
          <p:nvPr/>
        </p:nvSpPr>
        <p:spPr>
          <a:xfrm>
            <a:off x="5212080" y="1188720"/>
            <a:ext cx="6766560" cy="2565126"/>
          </a:xfrm>
          <a:prstGeom prst="rect">
            <a:avLst/>
          </a:prstGeom>
          <a:noFill/>
        </p:spPr>
        <p:txBody>
          <a:bodyPr wrap="square">
            <a:spAutoFit/>
          </a:bodyPr>
          <a:lstStyle/>
          <a:p>
            <a:pPr>
              <a:lnSpc>
                <a:spcPct val="130000"/>
              </a:lnSpc>
              <a:spcBef>
                <a:spcPts val="0"/>
              </a:spcBef>
              <a:spcAft>
                <a:spcPts val="0"/>
              </a:spcAft>
              <a:defRPr sz="2200" b="0" i="0">
                <a:latin typeface="Calibri"/>
              </a:defRPr>
            </a:pPr>
            <a:r>
              <a:rPr dirty="0"/>
              <a:t>•   In silico mutagenesis on top 1,000 chr10 predictions</a:t>
            </a:r>
          </a:p>
          <a:p>
            <a:pPr>
              <a:lnSpc>
                <a:spcPct val="130000"/>
              </a:lnSpc>
              <a:spcBef>
                <a:spcPts val="800"/>
              </a:spcBef>
              <a:spcAft>
                <a:spcPts val="0"/>
              </a:spcAft>
              <a:defRPr sz="2200" b="0" i="0">
                <a:latin typeface="Calibri"/>
              </a:defRPr>
            </a:pPr>
            <a:r>
              <a:rPr dirty="0"/>
              <a:t>•   Saliency profiles clustered into 10 groups; PWMs</a:t>
            </a:r>
            <a:br>
              <a:rPr lang="en-US" dirty="0"/>
            </a:br>
            <a:r>
              <a:rPr lang="en-US" dirty="0"/>
              <a:t>     </a:t>
            </a:r>
            <a:r>
              <a:rPr dirty="0"/>
              <a:t>matched against JASPAR</a:t>
            </a:r>
          </a:p>
          <a:p>
            <a:pPr>
              <a:lnSpc>
                <a:spcPct val="130000"/>
              </a:lnSpc>
              <a:spcBef>
                <a:spcPts val="800"/>
              </a:spcBef>
              <a:spcAft>
                <a:spcPts val="0"/>
              </a:spcAft>
              <a:defRPr sz="2200" b="0" i="0">
                <a:latin typeface="Calibri"/>
              </a:defRPr>
            </a:pPr>
            <a:r>
              <a:rPr dirty="0"/>
              <a:t>•   Initial matches: GATA1 (0.74), Sp1 (0.57), MYB (0.67)</a:t>
            </a:r>
          </a:p>
          <a:p>
            <a:pPr>
              <a:lnSpc>
                <a:spcPct val="130000"/>
              </a:lnSpc>
              <a:spcBef>
                <a:spcPts val="800"/>
              </a:spcBef>
              <a:spcAft>
                <a:spcPts val="0"/>
              </a:spcAft>
              <a:defRPr sz="2200" b="0" i="0">
                <a:latin typeface="Calibri"/>
              </a:defRPr>
            </a:pPr>
            <a:r>
              <a:rPr dirty="0"/>
              <a:t>•   But cluster PWMs are ~10x weaker than real motifs</a:t>
            </a:r>
          </a:p>
        </p:txBody>
      </p:sp>
      <p:sp>
        <p:nvSpPr>
          <p:cNvPr id="6" name="TextBox 5"/>
          <p:cNvSpPr txBox="1"/>
          <p:nvPr/>
        </p:nvSpPr>
        <p:spPr>
          <a:xfrm>
            <a:off x="5212080" y="5349240"/>
            <a:ext cx="6766560" cy="1188720"/>
          </a:xfrm>
          <a:prstGeom prst="rect">
            <a:avLst/>
          </a:prstGeom>
          <a:noFill/>
        </p:spPr>
        <p:txBody>
          <a:bodyPr wrap="square">
            <a:spAutoFit/>
          </a:bodyPr>
          <a:lstStyle/>
          <a:p>
            <a:pPr algn="l">
              <a:lnSpc>
                <a:spcPct val="130000"/>
              </a:lnSpc>
              <a:spcBef>
                <a:spcPts val="0"/>
              </a:spcBef>
              <a:spcAft>
                <a:spcPts val="0"/>
              </a:spcAft>
            </a:pPr>
            <a:r>
              <a:rPr sz="2200" b="1">
                <a:latin typeface="Calibri"/>
              </a:rPr>
              <a:t>Takeaway: </a:t>
            </a:r>
            <a:r>
              <a:rPr sz="2200" b="0">
                <a:latin typeface="Calibri"/>
              </a:rPr>
              <a:t>the model uses regional GC-rich composition, not specific TF binding motifs.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11274552" cy="777240"/>
          </a:xfrm>
          <a:prstGeom prst="rect">
            <a:avLst/>
          </a:prstGeom>
          <a:noFill/>
        </p:spPr>
        <p:txBody>
          <a:bodyPr wrap="none" lIns="0" tIns="0" rIns="0" bIns="0">
            <a:spAutoFit/>
          </a:bodyPr>
          <a:lstStyle/>
          <a:p>
            <a:pPr>
              <a:lnSpc>
                <a:spcPct val="110000"/>
              </a:lnSpc>
              <a:spcBef>
                <a:spcPts val="0"/>
              </a:spcBef>
              <a:spcAft>
                <a:spcPts val="0"/>
              </a:spcAft>
              <a:defRPr sz="4000" b="1" i="0">
                <a:latin typeface="Calibri"/>
              </a:defRPr>
            </a:pPr>
            <a:r>
              <a:t>Discussion &amp; Conclusions</a:t>
            </a:r>
          </a:p>
        </p:txBody>
      </p:sp>
      <p:sp>
        <p:nvSpPr>
          <p:cNvPr id="3" name="TextBox 2"/>
          <p:cNvSpPr txBox="1"/>
          <p:nvPr/>
        </p:nvSpPr>
        <p:spPr>
          <a:xfrm>
            <a:off x="411480" y="1005840"/>
            <a:ext cx="5715000" cy="413959"/>
          </a:xfrm>
          <a:prstGeom prst="rect">
            <a:avLst/>
          </a:prstGeom>
          <a:noFill/>
        </p:spPr>
        <p:txBody>
          <a:bodyPr wrap="square">
            <a:spAutoFit/>
          </a:bodyPr>
          <a:lstStyle/>
          <a:p>
            <a:pPr>
              <a:lnSpc>
                <a:spcPct val="110000"/>
              </a:lnSpc>
              <a:spcBef>
                <a:spcPts val="0"/>
              </a:spcBef>
              <a:spcAft>
                <a:spcPts val="0"/>
              </a:spcAft>
              <a:defRPr sz="1800" b="1" i="0">
                <a:latin typeface="Calibri"/>
              </a:defRPr>
            </a:pPr>
            <a:r>
              <a:rPr sz="2000" dirty="0"/>
              <a:t>What this experiment shows</a:t>
            </a:r>
          </a:p>
        </p:txBody>
      </p:sp>
      <p:sp>
        <p:nvSpPr>
          <p:cNvPr id="4" name="TextBox 3"/>
          <p:cNvSpPr txBox="1"/>
          <p:nvPr/>
        </p:nvSpPr>
        <p:spPr>
          <a:xfrm>
            <a:off x="411480" y="1371600"/>
            <a:ext cx="5715000" cy="1948034"/>
          </a:xfrm>
          <a:prstGeom prst="rect">
            <a:avLst/>
          </a:prstGeom>
          <a:noFill/>
        </p:spPr>
        <p:txBody>
          <a:bodyPr wrap="square">
            <a:spAutoFit/>
          </a:bodyPr>
          <a:lstStyle/>
          <a:p>
            <a:pPr>
              <a:lnSpc>
                <a:spcPct val="120000"/>
              </a:lnSpc>
              <a:spcBef>
                <a:spcPts val="0"/>
              </a:spcBef>
              <a:spcAft>
                <a:spcPts val="0"/>
              </a:spcAft>
              <a:defRPr sz="1300" b="0" i="0">
                <a:latin typeface="Calibri"/>
              </a:defRPr>
            </a:pPr>
            <a:r>
              <a:rPr sz="1600" dirty="0"/>
              <a:t>•   Pretrained beats from-scratch on every metric: AUPRC 0.269 vs</a:t>
            </a:r>
            <a:br>
              <a:rPr lang="en-US" sz="1600" dirty="0"/>
            </a:br>
            <a:r>
              <a:rPr lang="en-US" sz="1600" dirty="0"/>
              <a:t>     </a:t>
            </a:r>
            <a:r>
              <a:rPr sz="1600" dirty="0"/>
              <a:t>0.168, AUROC 0.923 vs 0.879</a:t>
            </a:r>
          </a:p>
          <a:p>
            <a:pPr>
              <a:lnSpc>
                <a:spcPct val="120000"/>
              </a:lnSpc>
              <a:spcBef>
                <a:spcPts val="400"/>
              </a:spcBef>
              <a:spcAft>
                <a:spcPts val="0"/>
              </a:spcAft>
              <a:defRPr sz="1300" b="0" i="0">
                <a:latin typeface="Calibri"/>
              </a:defRPr>
            </a:pPr>
            <a:r>
              <a:rPr sz="1600" dirty="0"/>
              <a:t>•   The improvement holds across thresholds, enhancer subtypes,</a:t>
            </a:r>
            <a:br>
              <a:rPr lang="en-US" sz="1600" dirty="0"/>
            </a:br>
            <a:r>
              <a:rPr lang="en-US" sz="1600" dirty="0"/>
              <a:t>     </a:t>
            </a:r>
            <a:r>
              <a:rPr sz="1600" dirty="0"/>
              <a:t>and matching rules</a:t>
            </a:r>
          </a:p>
          <a:p>
            <a:pPr>
              <a:lnSpc>
                <a:spcPct val="120000"/>
              </a:lnSpc>
              <a:spcBef>
                <a:spcPts val="400"/>
              </a:spcBef>
              <a:spcAft>
                <a:spcPts val="0"/>
              </a:spcAft>
              <a:defRPr sz="1300" b="0" i="0">
                <a:latin typeface="Calibri"/>
              </a:defRPr>
            </a:pPr>
            <a:r>
              <a:rPr sz="1600" dirty="0"/>
              <a:t>•   Pretraining gain is slightly larger on </a:t>
            </a:r>
            <a:r>
              <a:rPr sz="1600" dirty="0" err="1"/>
              <a:t>dELS</a:t>
            </a:r>
            <a:r>
              <a:rPr sz="1600" dirty="0"/>
              <a:t> (+0.08) than </a:t>
            </a:r>
            <a:r>
              <a:rPr sz="1600" dirty="0" err="1"/>
              <a:t>pELS</a:t>
            </a:r>
            <a:br>
              <a:rPr lang="en-US" sz="1600" dirty="0"/>
            </a:br>
            <a:r>
              <a:rPr lang="en-US" sz="1600" dirty="0"/>
              <a:t>      </a:t>
            </a:r>
            <a:r>
              <a:rPr sz="1600" dirty="0"/>
              <a:t>(+0.06)</a:t>
            </a:r>
          </a:p>
        </p:txBody>
      </p:sp>
      <p:sp>
        <p:nvSpPr>
          <p:cNvPr id="5" name="TextBox 4"/>
          <p:cNvSpPr txBox="1"/>
          <p:nvPr/>
        </p:nvSpPr>
        <p:spPr>
          <a:xfrm>
            <a:off x="411480" y="3520440"/>
            <a:ext cx="5715000" cy="413959"/>
          </a:xfrm>
          <a:prstGeom prst="rect">
            <a:avLst/>
          </a:prstGeom>
          <a:noFill/>
        </p:spPr>
        <p:txBody>
          <a:bodyPr wrap="square">
            <a:spAutoFit/>
          </a:bodyPr>
          <a:lstStyle/>
          <a:p>
            <a:pPr>
              <a:lnSpc>
                <a:spcPct val="110000"/>
              </a:lnSpc>
              <a:spcBef>
                <a:spcPts val="0"/>
              </a:spcBef>
              <a:spcAft>
                <a:spcPts val="0"/>
              </a:spcAft>
              <a:defRPr sz="1800" b="1" i="0">
                <a:latin typeface="Calibri"/>
              </a:defRPr>
            </a:pPr>
            <a:r>
              <a:rPr sz="2000" dirty="0"/>
              <a:t>The more interesting finding</a:t>
            </a:r>
          </a:p>
        </p:txBody>
      </p:sp>
      <p:sp>
        <p:nvSpPr>
          <p:cNvPr id="6" name="TextBox 5"/>
          <p:cNvSpPr txBox="1"/>
          <p:nvPr/>
        </p:nvSpPr>
        <p:spPr>
          <a:xfrm>
            <a:off x="411480" y="3886200"/>
            <a:ext cx="5715000" cy="1948034"/>
          </a:xfrm>
          <a:prstGeom prst="rect">
            <a:avLst/>
          </a:prstGeom>
          <a:noFill/>
        </p:spPr>
        <p:txBody>
          <a:bodyPr wrap="square">
            <a:spAutoFit/>
          </a:bodyPr>
          <a:lstStyle/>
          <a:p>
            <a:pPr>
              <a:lnSpc>
                <a:spcPct val="120000"/>
              </a:lnSpc>
              <a:spcBef>
                <a:spcPts val="0"/>
              </a:spcBef>
              <a:spcAft>
                <a:spcPts val="0"/>
              </a:spcAft>
              <a:defRPr sz="1300" b="0" i="0">
                <a:latin typeface="Calibri"/>
              </a:defRPr>
            </a:pPr>
            <a:r>
              <a:rPr sz="1600" dirty="0"/>
              <a:t>•   Both models learn compositional features (GC content, CpG context), not specific TF binding motifs</a:t>
            </a:r>
          </a:p>
          <a:p>
            <a:pPr>
              <a:lnSpc>
                <a:spcPct val="120000"/>
              </a:lnSpc>
              <a:spcBef>
                <a:spcPts val="400"/>
              </a:spcBef>
              <a:spcAft>
                <a:spcPts val="0"/>
              </a:spcAft>
              <a:defRPr sz="1300" b="0" i="0">
                <a:latin typeface="Calibri"/>
              </a:defRPr>
            </a:pPr>
            <a:r>
              <a:rPr sz="1600" dirty="0"/>
              <a:t>•   Confirmed via in silico mutagenesis and a peak-realignment test</a:t>
            </a:r>
          </a:p>
          <a:p>
            <a:pPr>
              <a:lnSpc>
                <a:spcPct val="120000"/>
              </a:lnSpc>
              <a:spcBef>
                <a:spcPts val="400"/>
              </a:spcBef>
              <a:spcAft>
                <a:spcPts val="0"/>
              </a:spcAft>
              <a:defRPr sz="1300" b="0" i="0">
                <a:latin typeface="Calibri"/>
              </a:defRPr>
            </a:pPr>
            <a:r>
              <a:rPr sz="1600" dirty="0"/>
              <a:t>•   Informative about what Puffin-D-style CNNs capture: they recognize regulatory regions but not the specific TF rules within them</a:t>
            </a:r>
          </a:p>
        </p:txBody>
      </p:sp>
      <p:sp>
        <p:nvSpPr>
          <p:cNvPr id="7" name="TextBox 6"/>
          <p:cNvSpPr txBox="1"/>
          <p:nvPr/>
        </p:nvSpPr>
        <p:spPr>
          <a:xfrm>
            <a:off x="6263640" y="1005840"/>
            <a:ext cx="5532120" cy="413959"/>
          </a:xfrm>
          <a:prstGeom prst="rect">
            <a:avLst/>
          </a:prstGeom>
          <a:noFill/>
        </p:spPr>
        <p:txBody>
          <a:bodyPr wrap="square">
            <a:spAutoFit/>
          </a:bodyPr>
          <a:lstStyle/>
          <a:p>
            <a:pPr>
              <a:lnSpc>
                <a:spcPct val="110000"/>
              </a:lnSpc>
              <a:spcBef>
                <a:spcPts val="0"/>
              </a:spcBef>
              <a:spcAft>
                <a:spcPts val="0"/>
              </a:spcAft>
              <a:defRPr sz="1800" b="1" i="0">
                <a:latin typeface="Calibri"/>
              </a:defRPr>
            </a:pPr>
            <a:r>
              <a:rPr sz="2000" dirty="0"/>
              <a:t>What this experiment does NOT show</a:t>
            </a:r>
          </a:p>
        </p:txBody>
      </p:sp>
      <p:sp>
        <p:nvSpPr>
          <p:cNvPr id="8" name="TextBox 7"/>
          <p:cNvSpPr txBox="1"/>
          <p:nvPr/>
        </p:nvSpPr>
        <p:spPr>
          <a:xfrm>
            <a:off x="6263640" y="1371600"/>
            <a:ext cx="5532120" cy="2885726"/>
          </a:xfrm>
          <a:prstGeom prst="rect">
            <a:avLst/>
          </a:prstGeom>
          <a:noFill/>
        </p:spPr>
        <p:txBody>
          <a:bodyPr wrap="square">
            <a:spAutoFit/>
          </a:bodyPr>
          <a:lstStyle/>
          <a:p>
            <a:pPr>
              <a:lnSpc>
                <a:spcPct val="120000"/>
              </a:lnSpc>
              <a:spcBef>
                <a:spcPts val="0"/>
              </a:spcBef>
              <a:spcAft>
                <a:spcPts val="0"/>
              </a:spcAft>
              <a:defRPr sz="1300" b="0" i="0">
                <a:latin typeface="Calibri"/>
              </a:defRPr>
            </a:pPr>
            <a:r>
              <a:rPr sz="1600" dirty="0"/>
              <a:t>•   That the model is practically useful: precision at threshold 0.5</a:t>
            </a:r>
            <a:br>
              <a:rPr lang="en-US" sz="1600" dirty="0"/>
            </a:br>
            <a:r>
              <a:rPr lang="en-US" sz="1600" dirty="0"/>
              <a:t>      </a:t>
            </a:r>
            <a:r>
              <a:rPr sz="1600" dirty="0"/>
              <a:t>is only 18%</a:t>
            </a:r>
            <a:br>
              <a:rPr lang="en-US" sz="1600" dirty="0"/>
            </a:br>
            <a:r>
              <a:rPr sz="1600" dirty="0"/>
              <a:t>•   That Puffin-D is the right architecture: no comparison against</a:t>
            </a:r>
            <a:br>
              <a:rPr lang="en-US" sz="1600" dirty="0"/>
            </a:br>
            <a:r>
              <a:rPr lang="en-US" sz="1600" dirty="0"/>
              <a:t>      </a:t>
            </a:r>
            <a:r>
              <a:rPr sz="1600" dirty="0"/>
              <a:t>simpler baselines (logistic regression, smaller CNNs)</a:t>
            </a:r>
          </a:p>
          <a:p>
            <a:pPr>
              <a:lnSpc>
                <a:spcPct val="120000"/>
              </a:lnSpc>
              <a:spcBef>
                <a:spcPts val="400"/>
              </a:spcBef>
              <a:spcAft>
                <a:spcPts val="0"/>
              </a:spcAft>
              <a:defRPr sz="1300" b="0" i="0">
                <a:latin typeface="Calibri"/>
              </a:defRPr>
            </a:pPr>
            <a:r>
              <a:rPr sz="1600" dirty="0"/>
              <a:t>•   That the pretraining gain is statistically meaningful: only one</a:t>
            </a:r>
            <a:br>
              <a:rPr lang="en-US" sz="1600" dirty="0"/>
            </a:br>
            <a:r>
              <a:rPr lang="en-US" sz="1600" dirty="0"/>
              <a:t>      </a:t>
            </a:r>
            <a:r>
              <a:rPr sz="1600" dirty="0"/>
              <a:t>run per condition, no variance estimate across seeds</a:t>
            </a:r>
          </a:p>
          <a:p>
            <a:pPr>
              <a:lnSpc>
                <a:spcPct val="120000"/>
              </a:lnSpc>
              <a:spcBef>
                <a:spcPts val="400"/>
              </a:spcBef>
              <a:spcAft>
                <a:spcPts val="0"/>
              </a:spcAft>
              <a:defRPr sz="1300" b="0" i="0">
                <a:latin typeface="Calibri"/>
              </a:defRPr>
            </a:pPr>
            <a:r>
              <a:rPr sz="1600" dirty="0"/>
              <a:t>•   That the </a:t>
            </a:r>
            <a:r>
              <a:rPr sz="1600" dirty="0" err="1"/>
              <a:t>dELS</a:t>
            </a:r>
            <a:r>
              <a:rPr sz="1600" dirty="0"/>
              <a:t>-vs-</a:t>
            </a:r>
            <a:r>
              <a:rPr sz="1600" dirty="0" err="1"/>
              <a:t>pELS</a:t>
            </a:r>
            <a:r>
              <a:rPr sz="1600" dirty="0"/>
              <a:t> gap difference reflects regulatory</a:t>
            </a:r>
            <a:br>
              <a:rPr lang="en-US" sz="1600" dirty="0"/>
            </a:br>
            <a:r>
              <a:rPr lang="en-US" sz="1600" dirty="0"/>
              <a:t>      </a:t>
            </a:r>
            <a:r>
              <a:rPr sz="1600" dirty="0"/>
              <a:t>biology rather than a general property of pretrained models</a:t>
            </a:r>
            <a:br>
              <a:rPr lang="en-US" sz="1600" dirty="0"/>
            </a:br>
            <a:r>
              <a:rPr lang="en-US" sz="1600" dirty="0"/>
              <a:t>      </a:t>
            </a:r>
            <a:r>
              <a:rPr sz="1600" dirty="0"/>
              <a:t>on harder tasks</a:t>
            </a:r>
          </a:p>
        </p:txBody>
      </p:sp>
      <p:sp>
        <p:nvSpPr>
          <p:cNvPr id="9" name="TextBox 8"/>
          <p:cNvSpPr txBox="1"/>
          <p:nvPr/>
        </p:nvSpPr>
        <p:spPr>
          <a:xfrm>
            <a:off x="6199632" y="4257326"/>
            <a:ext cx="5532120" cy="413959"/>
          </a:xfrm>
          <a:prstGeom prst="rect">
            <a:avLst/>
          </a:prstGeom>
          <a:noFill/>
        </p:spPr>
        <p:txBody>
          <a:bodyPr wrap="square">
            <a:spAutoFit/>
          </a:bodyPr>
          <a:lstStyle/>
          <a:p>
            <a:pPr>
              <a:lnSpc>
                <a:spcPct val="110000"/>
              </a:lnSpc>
              <a:spcBef>
                <a:spcPts val="0"/>
              </a:spcBef>
              <a:spcAft>
                <a:spcPts val="0"/>
              </a:spcAft>
              <a:defRPr sz="1800" b="1" i="0">
                <a:latin typeface="Calibri"/>
              </a:defRPr>
            </a:pPr>
            <a:r>
              <a:rPr sz="2000" dirty="0"/>
              <a:t>Limitations &amp; future directions</a:t>
            </a:r>
          </a:p>
        </p:txBody>
      </p:sp>
      <p:sp>
        <p:nvSpPr>
          <p:cNvPr id="10" name="TextBox 9"/>
          <p:cNvSpPr txBox="1"/>
          <p:nvPr/>
        </p:nvSpPr>
        <p:spPr>
          <a:xfrm>
            <a:off x="6248400" y="4643495"/>
            <a:ext cx="5532120" cy="1357103"/>
          </a:xfrm>
          <a:prstGeom prst="rect">
            <a:avLst/>
          </a:prstGeom>
          <a:noFill/>
        </p:spPr>
        <p:txBody>
          <a:bodyPr wrap="square">
            <a:spAutoFit/>
          </a:bodyPr>
          <a:lstStyle/>
          <a:p>
            <a:pPr>
              <a:lnSpc>
                <a:spcPct val="120000"/>
              </a:lnSpc>
              <a:spcBef>
                <a:spcPts val="0"/>
              </a:spcBef>
              <a:spcAft>
                <a:spcPts val="0"/>
              </a:spcAft>
              <a:defRPr sz="1300" b="0" i="0">
                <a:latin typeface="Calibri"/>
              </a:defRPr>
            </a:pPr>
            <a:r>
              <a:rPr sz="1600" dirty="0"/>
              <a:t>•   Single training run per condition limits statistical claims</a:t>
            </a:r>
          </a:p>
          <a:p>
            <a:pPr>
              <a:lnSpc>
                <a:spcPct val="120000"/>
              </a:lnSpc>
              <a:spcBef>
                <a:spcPts val="400"/>
              </a:spcBef>
              <a:spcAft>
                <a:spcPts val="0"/>
              </a:spcAft>
              <a:defRPr sz="1300" b="0" i="0">
                <a:latin typeface="Calibri"/>
              </a:defRPr>
            </a:pPr>
            <a:r>
              <a:rPr sz="1600" dirty="0"/>
              <a:t>•   No baseline architecture comparison</a:t>
            </a:r>
          </a:p>
          <a:p>
            <a:pPr>
              <a:lnSpc>
                <a:spcPct val="120000"/>
              </a:lnSpc>
              <a:spcBef>
                <a:spcPts val="400"/>
              </a:spcBef>
              <a:spcAft>
                <a:spcPts val="0"/>
              </a:spcAft>
              <a:defRPr sz="1300" b="0" i="0">
                <a:latin typeface="Calibri"/>
              </a:defRPr>
            </a:pPr>
            <a:r>
              <a:rPr sz="1600" dirty="0"/>
              <a:t>•   Small validation set (50 windows) caused noisy </a:t>
            </a:r>
            <a:r>
              <a:rPr sz="1600" dirty="0" err="1"/>
              <a:t>val</a:t>
            </a:r>
            <a:r>
              <a:rPr sz="1600" dirty="0"/>
              <a:t>-based</a:t>
            </a:r>
            <a:br>
              <a:rPr lang="en-US" sz="1600" dirty="0"/>
            </a:br>
            <a:r>
              <a:rPr lang="en-US" sz="1600" dirty="0"/>
              <a:t>     </a:t>
            </a:r>
            <a:r>
              <a:rPr sz="1600" dirty="0"/>
              <a:t>selection</a:t>
            </a:r>
          </a:p>
        </p:txBody>
      </p:sp>
      <p:sp>
        <p:nvSpPr>
          <p:cNvPr id="11" name="TextBox 10"/>
          <p:cNvSpPr txBox="1"/>
          <p:nvPr/>
        </p:nvSpPr>
        <p:spPr>
          <a:xfrm>
            <a:off x="457200" y="6446520"/>
            <a:ext cx="11274552" cy="365760"/>
          </a:xfrm>
          <a:prstGeom prst="rect">
            <a:avLst/>
          </a:prstGeom>
          <a:noFill/>
        </p:spPr>
        <p:txBody>
          <a:bodyPr wrap="square">
            <a:spAutoFit/>
          </a:bodyPr>
          <a:lstStyle/>
          <a:p>
            <a:pPr algn="ctr">
              <a:lnSpc>
                <a:spcPct val="110000"/>
              </a:lnSpc>
              <a:spcBef>
                <a:spcPts val="0"/>
              </a:spcBef>
              <a:spcAft>
                <a:spcPts val="0"/>
              </a:spcAft>
            </a:pPr>
            <a:r>
              <a:rPr sz="2000" b="0">
                <a:latin typeface="Calibri"/>
              </a:rPr>
              <a:t>Code and results: </a:t>
            </a:r>
            <a:r>
              <a:rPr sz="2000" b="0">
                <a:solidFill>
                  <a:srgbClr val="0066CC"/>
                </a:solidFill>
                <a:latin typeface="Calibri"/>
                <a:hlinkClick r:id="rId3"/>
              </a:rPr>
              <a:t>https://github.com/hahu1013/enhancer_prediction_k562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5574</Words>
  <Application>Microsoft Macintosh PowerPoint</Application>
  <PresentationFormat>Widescreen</PresentationFormat>
  <Paragraphs>264</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Hu, Haoyang</cp:lastModifiedBy>
  <cp:revision>2</cp:revision>
  <dcterms:created xsi:type="dcterms:W3CDTF">2013-01-27T09:14:16Z</dcterms:created>
  <dcterms:modified xsi:type="dcterms:W3CDTF">2026-05-18T20:26:04Z</dcterms:modified>
  <cp:category/>
</cp:coreProperties>
</file>